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JetBrains Mono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a84e66dd-d12c-4d2f-ad35-bde214fd9e1c.fntdata" /><ns0:Relationship Id="rIdFont21" Type="http://schemas.openxmlformats.org/officeDocument/2006/relationships/font" Target="fonts/436618ad-1e3b-4b2a-be46-6df652a5afd8.fntdata" /><ns0:Relationship Id="rIdFont22" Type="http://schemas.openxmlformats.org/officeDocument/2006/relationships/font" Target="fonts/6c1aeac4-f66c-427f-82f9-6059dffb7d2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21448"/>
            <a:ext cx="238125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43250" y="4921448"/>
            <a:ext cx="2847975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5035748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25" y="5035748"/>
            <a:ext cx="952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555402"/>
            <a:ext cx="68996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PROJETO ACADÊMICO DE ENGENHARIA DE SOFTWARE • PORTFÓLIO CO-OP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79252"/>
            <a:ext cx="8601075" cy="1708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Matchmaker Inteligente de Benefícios Governamentais para PMEs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78448"/>
            <a:ext cx="6572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Conectando pequenas e médias empresas canadenses a fundos de mitigação tarifária e incentivos públicos através de triagem automatizada.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5026223"/>
            <a:ext cx="2166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"/>
              </a:rPr>
              <a:t>Arquitetura B2B Decoupled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4725" y="5026223"/>
            <a:ext cx="2869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"/>
              </a:rPr>
              <a:t>Ecossistema Econômico Canadense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1812"/>
            <a:ext cx="3454449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71812"/>
            <a:ext cx="3454449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71812"/>
            <a:ext cx="3454449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01. CENÁRIO SÓCIO-ECONÔMICO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PMEs Representam a Espinha Dorsal do Canadá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793" y="3376612"/>
            <a:ext cx="355606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Plus Jakarta Sans"/>
              </a:rPr>
              <a:t>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793" y="4214812"/>
            <a:ext cx="355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Plus Jakarta Sans"/>
              </a:rPr>
              <a:t>Total de empresas privadas no Canadá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43" y="3376612"/>
            <a:ext cx="355606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Plus Jakarta Sans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43" y="4214812"/>
            <a:ext cx="355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Plus Jakarta Sans"/>
              </a:rPr>
              <a:t>Empregos gerados no setor privado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93" y="3376612"/>
            <a:ext cx="355606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Plus Jakarta Sans"/>
              </a:rPr>
              <a:t>$500M+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93" y="4214812"/>
            <a:ext cx="355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Plus Jakarta Sans"/>
              </a:rPr>
              <a:t>Fundos públicos de apoio disponíveis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90862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90862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575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57562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57562"/>
            <a:ext cx="2000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02. APRESENTAÇÃO DO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Falta de Clareza e Excesso de Burocracia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385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Pressão Tarifária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3383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Barreiras comerciais exigem reestruturação imediata de suprimentos.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385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Fragmentação do Apoio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3383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Programas dispersos entre esferas federais, provinciais e privadas.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38562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Sobrecarga Cognitiva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3383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Editais extensos desmotivam empresários sem consultoria jurídica.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8437"/>
            <a:ext cx="5353050" cy="2238375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719387"/>
            <a:ext cx="5391150" cy="2276475"/>
          </a:xfrm>
          <a:prstGeom prst="roundRect">
            <a:avLst>
              <a:gd name="adj" fmla="val 5020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300" y="3005137"/>
            <a:ext cx="1133475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7000" y="3005137"/>
            <a:ext cx="1895475" cy="314325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03. BENCHMARKING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Comparativo: Solução Governamental vs. Nossa Proposta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062287"/>
            <a:ext cx="1000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SISTEMA ATUAL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95662"/>
            <a:ext cx="63257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Business Benefits Finder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062287"/>
            <a:ext cx="1762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NOSSO MVP (MATCHMAKER)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395662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Engine de Triagem 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786187"/>
            <a:ext cx="60245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Navegação: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Formulários longos com preenchimento manual.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119562"/>
            <a:ext cx="60245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Retorno: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Listas estáticas e genéricas com centenas de itens.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452937"/>
            <a:ext cx="60245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Foco Econômico: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Sem priorização para crises tarifárias ativas.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786187"/>
            <a:ext cx="571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Interação:</a:t>
            </a:r>
            <a:r>
              <a:rPr b="0" sz="1125" i="0" u="none">
                <a:solidFill>
                  <a:srgbClr val="0F172A"/>
                </a:solidFill>
                <a:latin typeface="Plus Jakarta Sans"/>
              </a:rPr>
              <a:t> Quiz de 5 perguntas ou linguagem natural com 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119562"/>
            <a:ext cx="571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Match Instantâneo:</a:t>
            </a:r>
            <a:r>
              <a:rPr b="0" sz="1125" i="0" u="none">
                <a:solidFill>
                  <a:srgbClr val="0F172A"/>
                </a:solidFill>
                <a:latin typeface="Plus Jakarta Sans"/>
              </a:rPr>
              <a:t> Filtragem direta de 2 a 3 fundos de alto impacto.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452937"/>
            <a:ext cx="571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Simulação:</a:t>
            </a:r>
            <a:r>
              <a:rPr b="0" sz="1125" i="0" u="none">
                <a:solidFill>
                  <a:srgbClr val="0F172A"/>
                </a:solidFill>
                <a:latin typeface="Plus Jakarta Sans"/>
              </a:rPr>
              <a:t> Projeção visual de alívio de caixa e prazos.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4662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4175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14662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813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90875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28136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04. NECESSIDADES DO USUÁRIO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 que o Empresário Realmente Busca em uma Plataforma?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147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Clareza Qualificada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100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Respostas objetivas sobre elegibilidade sem necessidade de ler termos jurídicos.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24275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Agilidade de Acesso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19550"/>
            <a:ext cx="30670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Direcionamento imediato para os formulários oficiais com links diretos e prazos.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14762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Visão de Impacto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1100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Simulação prática de como o benefício apoia a recuperação do fluxo de caixa.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19362"/>
            <a:ext cx="5334000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62337"/>
            <a:ext cx="5334000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05312"/>
            <a:ext cx="5334000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19362"/>
            <a:ext cx="38100" cy="790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62337"/>
            <a:ext cx="38100" cy="790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405312"/>
            <a:ext cx="38100" cy="790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333625"/>
            <a:ext cx="202882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05. SOLUÇÃO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Plataforma B2B de Recomendação Automatizada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709862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Quiz Interativo de Elegibilidade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947987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Filtra setor, faturamento e impacto tarifário em segundos.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52837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Painel de Inteligência de 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90962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Alertas consolidados sobre programas vigentes (RTRI, CSBFP, SR&amp;ED).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595812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Assistente IA de Triagem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833937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Processamento de texto livre para descrever problemas e obter matches.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7050"/>
            <a:ext cx="25717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67050"/>
            <a:ext cx="25717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67050"/>
            <a:ext cx="25717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57512"/>
            <a:ext cx="2571750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06. ENGENHARIA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Arquitetura do Sistema e Stack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95650"/>
            <a:ext cx="22098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8550" y="3295650"/>
            <a:ext cx="22098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3295650"/>
            <a:ext cx="22098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BANCO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0" y="3186112"/>
            <a:ext cx="2209800" cy="1343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DIFERENCIAL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71875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React / Next.js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905250"/>
            <a:ext cx="2209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Interface moderna, responsiva e componentes Tailwind CSS para experiência B2B.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71875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Python (FastAPI)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05250"/>
            <a:ext cx="2209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Lógica de negócios rápida, regras de triagem e integração simplificada de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571875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905250"/>
            <a:ext cx="2209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Modelagem relacional de programas públicos, regras de critérios e perfis PME.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462337"/>
            <a:ext cx="2320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API LLM (OpenAI/Claude)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014787"/>
            <a:ext cx="2209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Processamento de linguagem natural para busca contextualizada por texto livre.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2287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76562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62287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07. FLUXO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Jornada do MVP em 3 Passos Simples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28987"/>
            <a:ext cx="3067050" cy="1133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43262"/>
            <a:ext cx="3067050" cy="1304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3900" y="3328987"/>
            <a:ext cx="3067050" cy="1133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24287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Entrada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19562"/>
            <a:ext cx="3067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Empresário responde ao quiz de 5 perguntas ou descreve o problema em texto livre.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385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Matchmaking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33837"/>
            <a:ext cx="3067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O sistema cruza as respostas com regras cadastradas no PostgreSQL e ranqueia os incentivos.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24287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Entrega Direta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119562"/>
            <a:ext cx="3067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Lista refinada de 2 a 3 programas com links diretos, requisitos e simulador.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90875"/>
            <a:ext cx="2600325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90875"/>
            <a:ext cx="2600325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90875"/>
            <a:ext cx="2600325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90875"/>
            <a:ext cx="2600325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08.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Passo a Passo de Implementação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19475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638550"/>
            <a:ext cx="281285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Pesquisa &amp;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14775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Mapeamento dos programas do Canada.ca (RTRI, CSBFP, IRAP) e requisitos formais.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9025" y="3419475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3638550"/>
            <a:ext cx="281285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Desenvolvimento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3914775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Construção do Core Loop: Quiz interativo + Endpoint FastAPI + Matchmaking.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419475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FASE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638550"/>
            <a:ext cx="281285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Integração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914775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Adição do assistente em linguagem natural para triagem contextual de dúvidas.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0675" y="3419475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FASE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3638550"/>
            <a:ext cx="281285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Documentação Co-op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3914775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README profissional no GitHub, diagramas de arquitetura e prints funcionais.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2800350"/>
            <a:ext cx="5334000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952875"/>
            <a:ext cx="5334000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8875"/>
            <a:ext cx="53340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09. IMPACTO ACADÊMICO &amp; CO-OP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Por que este Projeto se Destaca para Recrutadores?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2990850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Contextualização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3228975"/>
            <a:ext cx="5048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Demonstra compreensão do ecossistema econômico canadense e das dores locais.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414337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Visão de Produto B2B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381500"/>
            <a:ext cx="5048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Vai além de simples código; resolve um problema real com arquitetura escalável.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9425"/>
            <a:ext cx="3454449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19425"/>
            <a:ext cx="3454449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19425"/>
            <a:ext cx="3454449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10. MÉTRICAS DO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Indicadores de Sucesso Acadêmico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793" y="3324225"/>
            <a:ext cx="3556062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284C7"/>
                </a:solidFill>
                <a:latin typeface="Plus Jakarta Sans"/>
              </a:rPr>
              <a:t>&lt; 30s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793" y="4067175"/>
            <a:ext cx="3556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Plus Jakarta Sans"/>
              </a:rPr>
              <a:t>Tempo de triagem para recomendação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43" y="3324225"/>
            <a:ext cx="3556062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284C7"/>
                </a:solidFill>
                <a:latin typeface="Plus Jakarta San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43" y="4067175"/>
            <a:ext cx="3556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Plus Jakarta Sans"/>
              </a:rPr>
              <a:t>Precisão no cruzamento de critérios formais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93" y="3324225"/>
            <a:ext cx="3556062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284C7"/>
                </a:solidFill>
                <a:latin typeface="Plus Jakarta Sans"/>
              </a:rPr>
              <a:t>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93" y="4067175"/>
            <a:ext cx="3556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Plus Jakarta Sans"/>
              </a:rPr>
              <a:t>Padrão arquitetural pronto para produção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29175" y="4166145"/>
            <a:ext cx="2533650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0031" y="2244030"/>
            <a:ext cx="4071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ENGENHARIA DE SOFTWARE • CO-OP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9074" y="2567880"/>
            <a:ext cx="10813851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Obrigado! Perguntas &amp; Respostas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327945"/>
            <a:ext cx="714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Demonstração prática da aplicação de Engenharia de Software na solução de desafios econômicos reais.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1068" y="4280445"/>
            <a:ext cx="270986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Plus Jakarta Sans"/>
              </a:rPr>
              <a:t>github.com/projeto-mvp-coop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608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https://canadianbusiness.com/wp-content/uploads/2014/10/Wave-Feature-.jpg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845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canadianbusiness.com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https://images.squarespace-cdn.com/content/v1/674a022266552d5bd9c181dc/c6f287e9-3dd3-4c26-94df-b86998044967/imgg-nk2-8st2mgxl.png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3178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www.sohoresidences.com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