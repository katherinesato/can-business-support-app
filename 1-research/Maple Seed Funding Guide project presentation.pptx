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an independent learning project: a bilingual (English and French) guide that helps Canadian small and medium businesses find government and other support programs. I will cover the context, the problem and the numbers, the proposed solution, how the product is designed, the brand, and the next steps. Fill in your name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this matters. Canada had about 1.1 million businesses with employees at the end of 2024, and 98.2 percent of them are small, meaning 1 to 99 employees. Small and medium businesses employ 63.6 percent of private-sector workers, around 8 million people, and generated close to half of private-sector GDP in 2022 (33.2 percent small plus 14.0 percent medium, which adds to 47.2). Anything that helps these businesses find support reaches a large part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for businesses comes from five kinds of providers: federal, provincial and territorial governments, municipalities, non-profits and the private sector. These are exactly the categories we use as the first filter in the product. The premise of the project is that the information is public, but a business owner still has to work out which program fits and whether they qualify. This is our working premise, and the next slide shows what national surveys say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that back the problem. In the 2024 Credit Conditions Survey, only 1 percent of small businesses requested government financing, compared with 24 percent for trade credit and 9 percent for debt financing. When they did ask, 79 percent were approved, so the issue is not that programs refuse everyone. On awareness, the 2023-2024 Borrower Awareness and Satisfaction Study found that only 16 percent of businesses that had not used the Canada Small Business Financing Program were aware of it, and 34 percent were aware of any federal financing support program. Be careful with the wording: the 34 and 43 percent figures are about awareness of federal financing programs among non-users and among borrowers of that one program, not about all businesses.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the project credible. The surveys support parts of the story, but not all of it. Most small businesses said they did not need financing, and very few said that not knowing about sources was their main reason for not applying. That means the opportunity is not every business: it is the owners who do need support and have trouble finding or understanding it. We have no national statistic for how hard programs are to find, so this project treats that as an assumption, not a finding. Informal feedback from a few people could help, but it is not a formal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statements are the pain points the product is designed around. I want to be clear that they are hypotheses, not findings: they come from the design work on this project and have not been tested with real business owners. They guide the design, and feedback from a few people, even informal, would be a useful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is a bilingual guide in three parts. Find: a searchable directory with filters. Understand: a short guided assistant that checks a business profile against each program’s published criteria and explains the result. Prepare: a saved list, a checklist and a PDF report. It points to the official website for every program and never applies for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principles shape every screen. Matching is rule-based, which keeps it explainable and cheap to build. Each result says why. The product never promises eligibility and always sends people to the official source. Privacy was designed in from the start, with Canadian federal and Québec rules in mind, but it still needs legal review before a public launch. It is bilingual from day one, and it is clearly an independent learning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of the matching. The business answers five questions. Each program has a small rule sheet with its published criteria. The system checks each criterion and marks it as fits, to confirm, or does not fit. A program with any criterion that does not fit goes to not a match; one with only unclear items goes to maybe; the rest are matches. There is no machine learning involved. The honest limit is that the results are only as good as the rules, so keeping real program data accurate and current is the main piece of work still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project for a software engineering portfolio. The product idea is the context, and the engineering work is in four areas: a data pipeline that cleans an open government file into structured records, a rule engine where programs are data and rules are small, testable functions with explainable results, the product and UX side with a bilingual interface, accessibility and privacy by design, and delivery with version control, documentation and a deployed demo. Replace the placeholder at the bottom with the stack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The headline says what the product does in one line, there are two paths for two types of users, those who want to browse and those who want guidance, and a sample PDF report shows the outcome. A visible note says this is an independent learning project, so nobody confuses it with an official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directory. The filters on the left follow the categories in the open government data. Each card gives the essentials: who offers it, whether it is repayable, how much, and where it applies. The bookmark saves a program to the user’s list. The programs shown are examples for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guided assistant and the part that makes the product different from a plain directory. After five questions, the user sees programs grouped into matches, possible matches that need confirming, and probable non-matches, each with the reasons. Below the results there is a short checklist of what to prepare and options to download a PDF or save the results. The screen is the prototype with example programs and simplified rules, and it says so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product exists in English for Canada and in French for Québec. In the French version the descriptive part of the name is in French, because the Charter of the French Language asks for it. Privacy is part of the design: consent when you create an account, a privacy notice in plain language, and a way to delete your data. This was designed with PIPEDA and Québec’s Law 25 in mind, and it still needs a legal review before any public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has two halves. Maple says Canadian, seed says a small start that can grow, which describes the businesses the product is for. The symbol is the winged seed of a maple, shown as a pair of wings joined at one seed, which also stands for businesses and programs meeting at a match. We avoided the maple leaf from the flag because it is an official national symbol and a cliché. The words funding guide say what the site is without suggesting it hands out money. I have not yet verified whether the name, domain or logo are available, which is an open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symbol was not the first idea. We explored eleven rounds: paths and bridges, graphs and connected points, handshakes, magnifiers and lanterns, clarity, plants and gardening, and a Canadian leaf. This slide shows a sample from those rounds. The pair of maple seed wings was chosen because it is recognisable, works small, is Canadian without the flag leaf, and means two sides meeting at one point. A risk we noted is that it can read as rabbit ears or a letter V at small sizes, so it should be tested with people who have not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the prototype and the brand are done. The next phase is to build a small working version: import the program data from the open government file, write matching rules for a first set of programs, build the matching engine with unit tests, and add the saved list and the PDF report. After that: accessibility checks, a deployed demo with a clear README, a case study for the portfolio, and informal feedback from a few people. The scope is deliberately small. A working, well-documented MVP is worth more than covering every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risks for a portfolio project. Data accuracy is handled by using example data in the demo and linking to the official page of every program. The independent notice and the choice of name and symbol reduce the risk of looking like a government service. The name has to be checked before the project is made public. The demo stores no real personal data, and privacy would need a proper review before any real use. The last risk is scope, which is handled by keeping the MVP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sentence: one place to find, understand and prepare for the support that fits your business. Then invite questions and feedback. This is an independent, non-commercial learning project, and feedback from business owners and advisors is the most useful thing it can get. Fill in your name and contact email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statistics in the deck come from these four federal sources. The 47.2 percent GDP figure is my sum of two shares the source reports separately. The prototype screens use example programs, not the full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6" y="1153120"/>
            <a:ext cx="10566487" cy="447049"/>
          </a:xfrm>
          <a:prstGeom prst="rect">
            <a:avLst/>
          </a:prstGeom>
          <a:noFill/>
          <a:ln/>
        </p:spPr>
        <p:txBody>
          <a:bodyPr wrap="square" lIns="0" tIns="0" rIns="0" bIns="0" rtlCol="0" anchor="t"/>
          <a:lstStyle>
            <a:lvl1pPr algn="l" indent="0" marL="0">
              <a:lnSpc>
                <a:spcPct val="115000"/>
              </a:lnSpc>
              <a:buNone/>
              <a:defRPr lang="en-US" sz="3200" dirty="0">
                <a:solidFill>
                  <a:srgbClr val="0F1F3D"/>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6" y="1904969"/>
            <a:ext cx="10566444" cy="4140231"/>
          </a:xfrm>
          <a:prstGeom prst="rect">
            <a:avLst/>
          </a:prstGeom>
          <a:noFill/>
          <a:ln/>
        </p:spPr>
        <p:txBody>
          <a:bodyPr wrap="square" lIns="0" tIns="0" rIns="0" bIns="0" rtlCol="0" anchor="t"/>
          <a:lstStyle>
            <a:lvl1pPr algn="l" indent="0" marL="0">
              <a:lnSpc>
                <a:spcPct val="140000"/>
              </a:lnSpc>
              <a:buNone/>
              <a:defRPr lang="en-US" sz="1600" dirty="0">
                <a:solidFill>
                  <a:srgbClr val="0F1F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6" y="1153120"/>
            <a:ext cx="10566487" cy="447049"/>
          </a:xfrm>
          <a:prstGeom prst="rect">
            <a:avLst/>
          </a:prstGeom>
          <a:noFill/>
          <a:ln/>
        </p:spPr>
        <p:txBody>
          <a:bodyPr wrap="square" lIns="0" tIns="0" rIns="0" bIns="0" rtlCol="0" anchor="t"/>
          <a:lstStyle>
            <a:lvl1pPr algn="l" indent="0" marL="0">
              <a:lnSpc>
                <a:spcPct val="115000"/>
              </a:lnSpc>
              <a:buNone/>
              <a:defRPr lang="en-US" sz="3200" dirty="0">
                <a:solidFill>
                  <a:srgbClr val="0F1F3D"/>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6" y="1904969"/>
            <a:ext cx="10566444" cy="4140231"/>
          </a:xfrm>
          <a:prstGeom prst="rect">
            <a:avLst/>
          </a:prstGeom>
          <a:noFill/>
          <a:ln/>
        </p:spPr>
        <p:txBody>
          <a:bodyPr wrap="square" lIns="0" tIns="0" rIns="0" bIns="0" rtlCol="0" anchor="t"/>
          <a:lstStyle>
            <a:lvl1pPr algn="l" indent="0" marL="0">
              <a:lnSpc>
                <a:spcPct val="140000"/>
              </a:lnSpc>
              <a:buNone/>
              <a:defRPr lang="en-US" sz="1600" dirty="0">
                <a:solidFill>
                  <a:srgbClr val="0F1F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ised-isde.canada.ca/site/sme-research-statistics/en/node/439" TargetMode="External"/><Relationship Id="rId2" Type="http://schemas.openxmlformats.org/officeDocument/2006/relationships/hyperlink" Target="https://www.ised-isde.canada.ca/site/sme-research-statistics/en/node/435" TargetMode="External"/><Relationship Id="rId3" Type="http://schemas.openxmlformats.org/officeDocument/2006/relationships/hyperlink" Target="https://ised-isde.canada.ca/site/canada-small-business-financing-program/en/borrower-awareness-and-satisfaction-study-2023-2024" TargetMode="External"/><Relationship Id="rId4" Type="http://schemas.openxmlformats.org/officeDocument/2006/relationships/hyperlink" Target="https://open.canada.ca/data/en/dataset/4e75337e-70d0-4ed7-92d1-3b85192ec6b1" TargetMode="External"/><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812756" y="812756"/>
            <a:ext cx="6932929" cy="27430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020"/>
                </a:solidFill>
                <a:latin typeface="Inter" pitchFamily="34" charset="0"/>
                <a:ea typeface="Inter" pitchFamily="34" charset="-122"/>
                <a:cs typeface="Inter" pitchFamily="34" charset="-120"/>
              </a:rPr>
              <a:t>PROJECT PRESENTATION</a:t>
            </a:r>
            <a:endParaRPr lang="en-US" sz="1400" dirty="0"/>
          </a:p>
        </p:txBody>
      </p:sp>
      <p:sp>
        <p:nvSpPr>
          <p:cNvPr id="3" name="Text 1"/>
          <p:cNvSpPr/>
          <p:nvPr>
            <p:ph type="title"/>
          </p:nvPr>
        </p:nvSpPr>
        <p:spPr>
          <a:xfrm>
            <a:off x="812756" y="1264830"/>
            <a:ext cx="6932929" cy="1572120"/>
          </a:xfrm>
          <a:prstGeom prst="rect">
            <a:avLst/>
          </a:prstGeom>
          <a:noFill/>
          <a:ln/>
        </p:spPr>
        <p:txBody>
          <a:bodyPr wrap="square" lIns="0" tIns="0" rIns="0" bIns="0" rtlCol="0" anchor="t">
            <a:normAutofit/>
          </a:bodyPr>
          <a:lstStyle/>
          <a:p>
            <a:pPr algn="l" indent="0" marL="0">
              <a:lnSpc>
                <a:spcPts val="6090"/>
              </a:lnSpc>
              <a:buNone/>
            </a:pPr>
            <a:r>
              <a:rPr lang="en-US" sz="5800" b="1" i="0" spc="-150" kern="0" dirty="0">
                <a:solidFill>
                  <a:srgbClr val="F6F8FC"/>
                </a:solidFill>
                <a:latin typeface="Inter" pitchFamily="34" charset="0"/>
                <a:ea typeface="Inter" pitchFamily="34" charset="-122"/>
                <a:cs typeface="Inter" pitchFamily="34" charset="-120"/>
              </a:rPr>
              <a:t>Maple Seed Funding Guide</a:t>
            </a:r>
            <a:endParaRPr lang="en-US" sz="5800" dirty="0"/>
          </a:p>
        </p:txBody>
      </p:sp>
      <p:sp>
        <p:nvSpPr>
          <p:cNvPr id="4" name="Text 2"/>
          <p:cNvSpPr/>
          <p:nvPr/>
        </p:nvSpPr>
        <p:spPr>
          <a:xfrm>
            <a:off x="812756" y="3014720"/>
            <a:ext cx="6932929" cy="751863"/>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7D6F7"/>
                </a:solidFill>
                <a:latin typeface="Inter" pitchFamily="34" charset="0"/>
                <a:ea typeface="Inter" pitchFamily="34" charset="-122"/>
                <a:cs typeface="Inter" pitchFamily="34" charset="-120"/>
              </a:rPr>
              <a:t>Helping Canadian small and medium businesses find the funding and support that fits them.</a:t>
            </a:r>
            <a:endParaRPr lang="en-US" sz="2200" dirty="0"/>
          </a:p>
        </p:txBody>
      </p:sp>
      <p:sp>
        <p:nvSpPr>
          <p:cNvPr id="5" name="Text 3"/>
          <p:cNvSpPr/>
          <p:nvPr/>
        </p:nvSpPr>
        <p:spPr>
          <a:xfrm>
            <a:off x="812756" y="5594408"/>
            <a:ext cx="7848599" cy="27299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7D6F7"/>
                </a:solidFill>
                <a:latin typeface="Inter" pitchFamily="34" charset="0"/>
                <a:ea typeface="Inter" pitchFamily="34" charset="-122"/>
                <a:cs typeface="Inter" pitchFamily="34" charset="-120"/>
              </a:rPr>
              <a:t>An independent, non-commercial learning project. Katherine Borges Sato · October 2026</a:t>
            </a:r>
            <a:endParaRPr lang="en-US" sz="1300" dirty="0"/>
          </a:p>
        </p:txBody>
      </p:sp>
      <p:pic>
        <p:nvPicPr>
          <p:cNvPr id="6" name="Image 0" descr="Maple Seed Funding Guide logo: a pair of white maple seed wings joined at an amber seed, on a navy tile">    </p:cNvPr>
          <p:cNvPicPr>
            <a:picLocks noChangeAspect="1"/>
          </p:cNvPicPr>
          <p:nvPr/>
        </p:nvPicPr>
        <p:blipFill>
          <a:blip r:embed="rId1"/>
          <a:srcRect l="0" r="0" t="0" b="0"/>
          <a:stretch/>
        </p:blipFill>
        <p:spPr>
          <a:xfrm>
            <a:off x="7823171" y="1371585"/>
            <a:ext cx="2540000" cy="254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CONTEXT</a:t>
            </a:r>
            <a:endParaRPr lang="en-US" sz="1200" dirty="0"/>
          </a:p>
        </p:txBody>
      </p:sp>
      <p:sp>
        <p:nvSpPr>
          <p:cNvPr id="3" name="Text 1"/>
          <p:cNvSpPr/>
          <p:nvPr>
            <p:ph type="title"/>
          </p:nvPr>
        </p:nvSpPr>
        <p:spPr>
          <a:xfrm>
            <a:off x="812756" y="1153122"/>
            <a:ext cx="10883481" cy="919497"/>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Small and medium businesses are the backbone of Canada’s economy</a:t>
            </a:r>
            <a:endParaRPr lang="en-US" sz="3200" dirty="0"/>
          </a:p>
        </p:txBody>
      </p:sp>
      <p:sp>
        <p:nvSpPr>
          <p:cNvPr id="4" name="Shape 2"/>
          <p:cNvSpPr/>
          <p:nvPr/>
        </p:nvSpPr>
        <p:spPr>
          <a:xfrm>
            <a:off x="815931" y="3158732"/>
            <a:ext cx="2485224" cy="2680093"/>
          </a:xfrm>
          <a:prstGeom prst="roundRect">
            <a:avLst>
              <a:gd name="adj" fmla="val 4982"/>
            </a:avLst>
          </a:prstGeom>
          <a:solidFill>
            <a:srgbClr val="FBFCFE"/>
          </a:solidFill>
          <a:ln w="6350">
            <a:solidFill>
              <a:srgbClr val="DCE3EE"/>
            </a:solidFill>
            <a:prstDash val="solid"/>
          </a:ln>
        </p:spPr>
      </p:sp>
      <p:sp>
        <p:nvSpPr>
          <p:cNvPr id="5" name="Text 3"/>
          <p:cNvSpPr/>
          <p:nvPr/>
        </p:nvSpPr>
        <p:spPr>
          <a:xfrm>
            <a:off x="1071417" y="3414217"/>
            <a:ext cx="2033480" cy="685814"/>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1.10M</a:t>
            </a:r>
            <a:endParaRPr lang="en-US" sz="5200" dirty="0"/>
          </a:p>
        </p:txBody>
      </p:sp>
      <p:sp>
        <p:nvSpPr>
          <p:cNvPr id="6" name="Text 4"/>
          <p:cNvSpPr/>
          <p:nvPr/>
        </p:nvSpPr>
        <p:spPr>
          <a:xfrm>
            <a:off x="1071417" y="4176217"/>
            <a:ext cx="2033480" cy="7721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employer businesses in Canada, December 2024</a:t>
            </a:r>
            <a:endParaRPr lang="en-US" sz="1400" dirty="0"/>
          </a:p>
        </p:txBody>
      </p:sp>
      <p:sp>
        <p:nvSpPr>
          <p:cNvPr id="7" name="Shape 5"/>
          <p:cNvSpPr/>
          <p:nvPr/>
        </p:nvSpPr>
        <p:spPr>
          <a:xfrm>
            <a:off x="3510676" y="3158732"/>
            <a:ext cx="2485224" cy="2680093"/>
          </a:xfrm>
          <a:prstGeom prst="roundRect">
            <a:avLst>
              <a:gd name="adj" fmla="val 4982"/>
            </a:avLst>
          </a:prstGeom>
          <a:solidFill>
            <a:srgbClr val="FBFCFE"/>
          </a:solidFill>
          <a:ln w="6350">
            <a:solidFill>
              <a:srgbClr val="DCE3EE"/>
            </a:solidFill>
            <a:prstDash val="solid"/>
          </a:ln>
        </p:spPr>
      </p:sp>
      <p:sp>
        <p:nvSpPr>
          <p:cNvPr id="8" name="Text 6"/>
          <p:cNvSpPr/>
          <p:nvPr/>
        </p:nvSpPr>
        <p:spPr>
          <a:xfrm>
            <a:off x="3766161" y="3414217"/>
            <a:ext cx="2033480" cy="1346229"/>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98.2%</a:t>
            </a:r>
            <a:endParaRPr lang="en-US" sz="5200" dirty="0"/>
          </a:p>
        </p:txBody>
      </p:sp>
      <p:sp>
        <p:nvSpPr>
          <p:cNvPr id="9" name="Text 7"/>
          <p:cNvSpPr/>
          <p:nvPr/>
        </p:nvSpPr>
        <p:spPr>
          <a:xfrm>
            <a:off x="3766161" y="4836632"/>
            <a:ext cx="2033480" cy="7721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of them are small businesses, with 1 to 99 employees</a:t>
            </a:r>
            <a:endParaRPr lang="en-US" sz="1400" dirty="0"/>
          </a:p>
        </p:txBody>
      </p:sp>
      <p:sp>
        <p:nvSpPr>
          <p:cNvPr id="10" name="Shape 8"/>
          <p:cNvSpPr/>
          <p:nvPr/>
        </p:nvSpPr>
        <p:spPr>
          <a:xfrm>
            <a:off x="6205420" y="3158732"/>
            <a:ext cx="2485224" cy="2680093"/>
          </a:xfrm>
          <a:prstGeom prst="roundRect">
            <a:avLst>
              <a:gd name="adj" fmla="val 4982"/>
            </a:avLst>
          </a:prstGeom>
          <a:solidFill>
            <a:srgbClr val="FBFCFE"/>
          </a:solidFill>
          <a:ln w="6350">
            <a:solidFill>
              <a:srgbClr val="DCE3EE"/>
            </a:solidFill>
            <a:prstDash val="solid"/>
          </a:ln>
        </p:spPr>
      </p:sp>
      <p:sp>
        <p:nvSpPr>
          <p:cNvPr id="11" name="Text 9"/>
          <p:cNvSpPr/>
          <p:nvPr/>
        </p:nvSpPr>
        <p:spPr>
          <a:xfrm>
            <a:off x="6460906" y="3414217"/>
            <a:ext cx="2033480" cy="1346229"/>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63.6%</a:t>
            </a:r>
            <a:endParaRPr lang="en-US" sz="5200" dirty="0"/>
          </a:p>
        </p:txBody>
      </p:sp>
      <p:sp>
        <p:nvSpPr>
          <p:cNvPr id="12" name="Text 10"/>
          <p:cNvSpPr/>
          <p:nvPr/>
        </p:nvSpPr>
        <p:spPr>
          <a:xfrm>
            <a:off x="6460906" y="4836632"/>
            <a:ext cx="2033480" cy="7721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of private-sector jobs, about 8 million people, in 2024</a:t>
            </a:r>
            <a:endParaRPr lang="en-US" sz="1400" dirty="0"/>
          </a:p>
        </p:txBody>
      </p:sp>
      <p:sp>
        <p:nvSpPr>
          <p:cNvPr id="13" name="Shape 11"/>
          <p:cNvSpPr/>
          <p:nvPr/>
        </p:nvSpPr>
        <p:spPr>
          <a:xfrm>
            <a:off x="8896990" y="3155557"/>
            <a:ext cx="2482253" cy="2686443"/>
          </a:xfrm>
          <a:prstGeom prst="roundRect">
            <a:avLst>
              <a:gd name="adj" fmla="val 5116"/>
            </a:avLst>
          </a:prstGeom>
          <a:solidFill>
            <a:srgbClr val="0F1F3D"/>
          </a:solidFill>
          <a:ln/>
        </p:spPr>
      </p:sp>
      <p:sp>
        <p:nvSpPr>
          <p:cNvPr id="14" name="Text 12"/>
          <p:cNvSpPr/>
          <p:nvPr/>
        </p:nvSpPr>
        <p:spPr>
          <a:xfrm>
            <a:off x="9150990" y="3409557"/>
            <a:ext cx="2033480" cy="1346229"/>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FFB020"/>
                </a:solidFill>
                <a:latin typeface="Inter" pitchFamily="34" charset="0"/>
                <a:ea typeface="Inter" pitchFamily="34" charset="-122"/>
                <a:cs typeface="Inter" pitchFamily="34" charset="-120"/>
              </a:rPr>
              <a:t>47.2%</a:t>
            </a:r>
            <a:endParaRPr lang="en-US" sz="5200" dirty="0"/>
          </a:p>
        </p:txBody>
      </p:sp>
      <p:sp>
        <p:nvSpPr>
          <p:cNvPr id="15" name="Text 13"/>
          <p:cNvSpPr/>
          <p:nvPr/>
        </p:nvSpPr>
        <p:spPr>
          <a:xfrm>
            <a:off x="9150990" y="4831971"/>
            <a:ext cx="2033480" cy="7721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6F7"/>
                </a:solidFill>
                <a:latin typeface="Inter" pitchFamily="34" charset="0"/>
                <a:ea typeface="Inter" pitchFamily="34" charset="-122"/>
                <a:cs typeface="Inter" pitchFamily="34" charset="-120"/>
              </a:rPr>
              <a:t>of private-sector GDP in 2022: small 33.2% plus medium 14.0%</a:t>
            </a:r>
            <a:endParaRPr lang="en-US" sz="1400" dirty="0"/>
          </a:p>
        </p:txBody>
      </p:sp>
      <p:sp>
        <p:nvSpPr>
          <p:cNvPr id="16" name="Text 14"/>
          <p:cNvSpPr/>
          <p:nvPr/>
        </p:nvSpPr>
        <p:spPr>
          <a:xfrm>
            <a:off x="812756" y="6238293"/>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Source: Innovation, Science and Economic Development Canada, Key Small Business Statistics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THE LANDSCAPE</a:t>
            </a:r>
            <a:endParaRPr lang="en-US" sz="1200" dirty="0"/>
          </a:p>
        </p:txBody>
      </p:sp>
      <p:sp>
        <p:nvSpPr>
          <p:cNvPr id="3" name="Text 1"/>
          <p:cNvSpPr/>
          <p:nvPr>
            <p:ph type="title"/>
          </p:nvPr>
        </p:nvSpPr>
        <p:spPr>
          <a:xfrm>
            <a:off x="812756" y="1153122"/>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Support exists, but it comes from many places</a:t>
            </a:r>
            <a:endParaRPr lang="en-US" sz="3200" dirty="0"/>
          </a:p>
        </p:txBody>
      </p:sp>
      <p:sp>
        <p:nvSpPr>
          <p:cNvPr id="4" name="Shape 2"/>
          <p:cNvSpPr/>
          <p:nvPr/>
        </p:nvSpPr>
        <p:spPr>
          <a:xfrm>
            <a:off x="815931" y="2288884"/>
            <a:ext cx="4819722" cy="566752"/>
          </a:xfrm>
          <a:prstGeom prst="roundRect">
            <a:avLst>
              <a:gd name="adj" fmla="val 17367"/>
            </a:avLst>
          </a:prstGeom>
          <a:solidFill>
            <a:srgbClr val="FBFCFE"/>
          </a:solidFill>
          <a:ln w="6350">
            <a:solidFill>
              <a:srgbClr val="DCE3EE"/>
            </a:solidFill>
            <a:prstDash val="solid"/>
          </a:ln>
        </p:spPr>
      </p:sp>
      <p:sp>
        <p:nvSpPr>
          <p:cNvPr id="5" name="Text 3"/>
          <p:cNvSpPr/>
          <p:nvPr/>
        </p:nvSpPr>
        <p:spPr>
          <a:xfrm>
            <a:off x="1020588" y="2430041"/>
            <a:ext cx="2118511" cy="30983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F3D"/>
                </a:solidFill>
                <a:latin typeface="Inter" pitchFamily="34" charset="0"/>
                <a:ea typeface="Inter" pitchFamily="34" charset="-122"/>
                <a:cs typeface="Inter" pitchFamily="34" charset="-120"/>
              </a:rPr>
              <a:t>Federal government</a:t>
            </a:r>
            <a:endParaRPr lang="en-US" sz="1600" dirty="0"/>
          </a:p>
        </p:txBody>
      </p:sp>
      <p:sp>
        <p:nvSpPr>
          <p:cNvPr id="6" name="Text 4"/>
          <p:cNvSpPr/>
          <p:nvPr/>
        </p:nvSpPr>
        <p:spPr>
          <a:xfrm>
            <a:off x="3139099" y="2456693"/>
            <a:ext cx="2296399" cy="2564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85"/>
                </a:solidFill>
                <a:latin typeface="Inter" pitchFamily="34" charset="0"/>
                <a:ea typeface="Inter" pitchFamily="34" charset="-122"/>
                <a:cs typeface="Inter" pitchFamily="34" charset="-120"/>
              </a:rPr>
              <a:t>grants, loans, tax credits</a:t>
            </a:r>
            <a:endParaRPr lang="en-US" sz="1300" dirty="0"/>
          </a:p>
        </p:txBody>
      </p:sp>
      <p:sp>
        <p:nvSpPr>
          <p:cNvPr id="7" name="Shape 5"/>
          <p:cNvSpPr/>
          <p:nvPr/>
        </p:nvSpPr>
        <p:spPr>
          <a:xfrm>
            <a:off x="815931" y="2963571"/>
            <a:ext cx="4819722" cy="851191"/>
          </a:xfrm>
          <a:prstGeom prst="roundRect">
            <a:avLst>
              <a:gd name="adj" fmla="val 11563"/>
            </a:avLst>
          </a:prstGeom>
          <a:solidFill>
            <a:srgbClr val="FBFCFE"/>
          </a:solidFill>
          <a:ln w="6350">
            <a:solidFill>
              <a:srgbClr val="DCE3EE"/>
            </a:solidFill>
            <a:prstDash val="solid"/>
          </a:ln>
        </p:spPr>
      </p:sp>
      <p:sp>
        <p:nvSpPr>
          <p:cNvPr id="8" name="Text 6"/>
          <p:cNvSpPr/>
          <p:nvPr/>
        </p:nvSpPr>
        <p:spPr>
          <a:xfrm>
            <a:off x="1020588" y="3104728"/>
            <a:ext cx="2485615" cy="59427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F3D"/>
                </a:solidFill>
                <a:latin typeface="Inter" pitchFamily="34" charset="0"/>
                <a:ea typeface="Inter" pitchFamily="34" charset="-122"/>
                <a:cs typeface="Inter" pitchFamily="34" charset="-120"/>
              </a:rPr>
              <a:t>Provinces and territories</a:t>
            </a:r>
            <a:endParaRPr lang="en-US" sz="1600" dirty="0"/>
          </a:p>
        </p:txBody>
      </p:sp>
      <p:sp>
        <p:nvSpPr>
          <p:cNvPr id="9" name="Text 7"/>
          <p:cNvSpPr/>
          <p:nvPr/>
        </p:nvSpPr>
        <p:spPr>
          <a:xfrm>
            <a:off x="3560806" y="3158105"/>
            <a:ext cx="1926297"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85"/>
                </a:solidFill>
                <a:latin typeface="Inter" pitchFamily="34" charset="0"/>
                <a:ea typeface="Inter" pitchFamily="34" charset="-122"/>
                <a:cs typeface="Inter" pitchFamily="34" charset="-120"/>
              </a:rPr>
              <a:t>vouchers, tax incentives</a:t>
            </a:r>
            <a:endParaRPr lang="en-US" sz="1300" dirty="0"/>
          </a:p>
        </p:txBody>
      </p:sp>
      <p:sp>
        <p:nvSpPr>
          <p:cNvPr id="10" name="Shape 8"/>
          <p:cNvSpPr/>
          <p:nvPr/>
        </p:nvSpPr>
        <p:spPr>
          <a:xfrm>
            <a:off x="815931" y="3922699"/>
            <a:ext cx="4819722" cy="566752"/>
          </a:xfrm>
          <a:prstGeom prst="roundRect">
            <a:avLst>
              <a:gd name="adj" fmla="val 17367"/>
            </a:avLst>
          </a:prstGeom>
          <a:solidFill>
            <a:srgbClr val="FBFCFE"/>
          </a:solidFill>
          <a:ln w="6350">
            <a:solidFill>
              <a:srgbClr val="DCE3EE"/>
            </a:solidFill>
            <a:prstDash val="solid"/>
          </a:ln>
        </p:spPr>
      </p:sp>
      <p:sp>
        <p:nvSpPr>
          <p:cNvPr id="11" name="Text 9"/>
          <p:cNvSpPr/>
          <p:nvPr/>
        </p:nvSpPr>
        <p:spPr>
          <a:xfrm>
            <a:off x="1020588" y="4063854"/>
            <a:ext cx="1521524" cy="30983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F3D"/>
                </a:solidFill>
                <a:latin typeface="Inter" pitchFamily="34" charset="0"/>
                <a:ea typeface="Inter" pitchFamily="34" charset="-122"/>
                <a:cs typeface="Inter" pitchFamily="34" charset="-120"/>
              </a:rPr>
              <a:t>Municipalities</a:t>
            </a:r>
            <a:endParaRPr lang="en-US" sz="1600" dirty="0"/>
          </a:p>
        </p:txBody>
      </p:sp>
      <p:sp>
        <p:nvSpPr>
          <p:cNvPr id="12" name="Text 10"/>
          <p:cNvSpPr/>
          <p:nvPr/>
        </p:nvSpPr>
        <p:spPr>
          <a:xfrm>
            <a:off x="2542112" y="4090507"/>
            <a:ext cx="1393534" cy="2564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85"/>
                </a:solidFill>
                <a:latin typeface="Inter" pitchFamily="34" charset="0"/>
                <a:ea typeface="Inter" pitchFamily="34" charset="-122"/>
                <a:cs typeface="Inter" pitchFamily="34" charset="-120"/>
              </a:rPr>
              <a:t>local programs</a:t>
            </a:r>
            <a:endParaRPr lang="en-US" sz="1300" dirty="0"/>
          </a:p>
        </p:txBody>
      </p:sp>
      <p:sp>
        <p:nvSpPr>
          <p:cNvPr id="13" name="Shape 11"/>
          <p:cNvSpPr/>
          <p:nvPr/>
        </p:nvSpPr>
        <p:spPr>
          <a:xfrm>
            <a:off x="815931" y="4597386"/>
            <a:ext cx="4819722" cy="566752"/>
          </a:xfrm>
          <a:prstGeom prst="roundRect">
            <a:avLst>
              <a:gd name="adj" fmla="val 17367"/>
            </a:avLst>
          </a:prstGeom>
          <a:solidFill>
            <a:srgbClr val="FBFCFE"/>
          </a:solidFill>
          <a:ln w="6350">
            <a:solidFill>
              <a:srgbClr val="DCE3EE"/>
            </a:solidFill>
            <a:prstDash val="solid"/>
          </a:ln>
        </p:spPr>
      </p:sp>
      <p:sp>
        <p:nvSpPr>
          <p:cNvPr id="14" name="Text 12"/>
          <p:cNvSpPr/>
          <p:nvPr/>
        </p:nvSpPr>
        <p:spPr>
          <a:xfrm>
            <a:off x="1020588" y="4738542"/>
            <a:ext cx="2577794" cy="30983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F3D"/>
                </a:solidFill>
                <a:latin typeface="Inter" pitchFamily="34" charset="0"/>
                <a:ea typeface="Inter" pitchFamily="34" charset="-122"/>
                <a:cs typeface="Inter" pitchFamily="34" charset="-120"/>
              </a:rPr>
              <a:t>Non-profit organizations</a:t>
            </a:r>
            <a:endParaRPr lang="en-US" sz="1600" dirty="0"/>
          </a:p>
        </p:txBody>
      </p:sp>
      <p:sp>
        <p:nvSpPr>
          <p:cNvPr id="15" name="Text 13"/>
          <p:cNvSpPr/>
          <p:nvPr/>
        </p:nvSpPr>
        <p:spPr>
          <a:xfrm>
            <a:off x="3598382" y="4765194"/>
            <a:ext cx="2032320" cy="2564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85"/>
                </a:solidFill>
                <a:latin typeface="Inter" pitchFamily="34" charset="0"/>
                <a:ea typeface="Inter" pitchFamily="34" charset="-122"/>
                <a:cs typeface="Inter" pitchFamily="34" charset="-120"/>
              </a:rPr>
              <a:t>financing, mentorship</a:t>
            </a:r>
            <a:endParaRPr lang="en-US" sz="1300" dirty="0"/>
          </a:p>
        </p:txBody>
      </p:sp>
      <p:sp>
        <p:nvSpPr>
          <p:cNvPr id="16" name="Shape 14"/>
          <p:cNvSpPr/>
          <p:nvPr/>
        </p:nvSpPr>
        <p:spPr>
          <a:xfrm>
            <a:off x="815931" y="5272074"/>
            <a:ext cx="4819722" cy="566752"/>
          </a:xfrm>
          <a:prstGeom prst="roundRect">
            <a:avLst>
              <a:gd name="adj" fmla="val 17367"/>
            </a:avLst>
          </a:prstGeom>
          <a:solidFill>
            <a:srgbClr val="FBFCFE"/>
          </a:solidFill>
          <a:ln w="6350">
            <a:solidFill>
              <a:srgbClr val="DCE3EE"/>
            </a:solidFill>
            <a:prstDash val="solid"/>
          </a:ln>
        </p:spPr>
      </p:sp>
      <p:sp>
        <p:nvSpPr>
          <p:cNvPr id="17" name="Text 15"/>
          <p:cNvSpPr/>
          <p:nvPr/>
        </p:nvSpPr>
        <p:spPr>
          <a:xfrm>
            <a:off x="1020588" y="5413229"/>
            <a:ext cx="1511038" cy="30983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F3D"/>
                </a:solidFill>
                <a:latin typeface="Inter" pitchFamily="34" charset="0"/>
                <a:ea typeface="Inter" pitchFamily="34" charset="-122"/>
                <a:cs typeface="Inter" pitchFamily="34" charset="-120"/>
              </a:rPr>
              <a:t>Private sector</a:t>
            </a:r>
            <a:endParaRPr lang="en-US" sz="1600" dirty="0"/>
          </a:p>
        </p:txBody>
      </p:sp>
      <p:sp>
        <p:nvSpPr>
          <p:cNvPr id="18" name="Text 16"/>
          <p:cNvSpPr/>
          <p:nvPr/>
        </p:nvSpPr>
        <p:spPr>
          <a:xfrm>
            <a:off x="2531625" y="5439882"/>
            <a:ext cx="1840684" cy="2564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85"/>
                </a:solidFill>
                <a:latin typeface="Inter" pitchFamily="34" charset="0"/>
                <a:ea typeface="Inter" pitchFamily="34" charset="-122"/>
                <a:cs typeface="Inter" pitchFamily="34" charset="-120"/>
              </a:rPr>
              <a:t>banks, accelerators</a:t>
            </a:r>
            <a:endParaRPr lang="en-US" sz="1300" dirty="0"/>
          </a:p>
        </p:txBody>
      </p:sp>
      <p:sp>
        <p:nvSpPr>
          <p:cNvPr id="19" name="Shape 17"/>
          <p:cNvSpPr/>
          <p:nvPr/>
        </p:nvSpPr>
        <p:spPr>
          <a:xfrm>
            <a:off x="5943585" y="2285709"/>
            <a:ext cx="5435658" cy="3556291"/>
          </a:xfrm>
          <a:prstGeom prst="roundRect">
            <a:avLst>
              <a:gd name="adj" fmla="val 4285"/>
            </a:avLst>
          </a:prstGeom>
          <a:solidFill>
            <a:srgbClr val="0F1F3D"/>
          </a:solidFill>
          <a:ln/>
        </p:spPr>
      </p:sp>
      <p:sp>
        <p:nvSpPr>
          <p:cNvPr id="20" name="Text 18"/>
          <p:cNvSpPr/>
          <p:nvPr/>
        </p:nvSpPr>
        <p:spPr>
          <a:xfrm>
            <a:off x="6248341" y="2590465"/>
            <a:ext cx="4970930"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020"/>
                </a:solidFill>
                <a:latin typeface="Inter" pitchFamily="34" charset="0"/>
                <a:ea typeface="Inter" pitchFamily="34" charset="-122"/>
                <a:cs typeface="Inter" pitchFamily="34" charset="-120"/>
              </a:rPr>
              <a:t>OUR PREMISE</a:t>
            </a:r>
            <a:endParaRPr lang="en-US" sz="1200" dirty="0"/>
          </a:p>
        </p:txBody>
      </p:sp>
      <p:sp>
        <p:nvSpPr>
          <p:cNvPr id="21" name="Text 19"/>
          <p:cNvSpPr/>
          <p:nvPr/>
        </p:nvSpPr>
        <p:spPr>
          <a:xfrm>
            <a:off x="6248341" y="3275274"/>
            <a:ext cx="4970930" cy="10731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6F8FC"/>
                </a:solidFill>
                <a:latin typeface="Inter" pitchFamily="34" charset="0"/>
                <a:ea typeface="Inter" pitchFamily="34" charset="-122"/>
                <a:cs typeface="Inter" pitchFamily="34" charset="-120"/>
              </a:rPr>
              <a:t>The information is public. Finding the right program, and knowing if you qualify, is the hard part.</a:t>
            </a:r>
            <a:endParaRPr lang="en-US" sz="2200" dirty="0"/>
          </a:p>
        </p:txBody>
      </p:sp>
      <p:sp>
        <p:nvSpPr>
          <p:cNvPr id="22" name="Text 20"/>
          <p:cNvSpPr/>
          <p:nvPr/>
        </p:nvSpPr>
        <p:spPr>
          <a:xfrm>
            <a:off x="6248341" y="4794469"/>
            <a:ext cx="4970930" cy="768175"/>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7D6F7"/>
                </a:solidFill>
                <a:latin typeface="Inter" pitchFamily="34" charset="0"/>
                <a:ea typeface="Inter" pitchFamily="34" charset="-122"/>
                <a:cs typeface="Inter" pitchFamily="34" charset="-120"/>
              </a:rPr>
              <a:t>The federal Business Benefits Finder is published as open data under the Open Government Licence – Canada, which makes a project like this possible.</a:t>
            </a:r>
            <a:endParaRPr lang="en-US" sz="1300" dirty="0"/>
          </a:p>
        </p:txBody>
      </p:sp>
      <p:sp>
        <p:nvSpPr>
          <p:cNvPr id="23" name="Text 21"/>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Source: Business Benefits Finder dataset, Open Government portal (Open Government Licence – Canada)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THE PROBLEM</a:t>
            </a:r>
            <a:endParaRPr lang="en-US" sz="1200" dirty="0"/>
          </a:p>
        </p:txBody>
      </p:sp>
      <p:sp>
        <p:nvSpPr>
          <p:cNvPr id="3" name="Text 1"/>
          <p:cNvSpPr/>
          <p:nvPr>
            <p:ph type="title"/>
          </p:nvPr>
        </p:nvSpPr>
        <p:spPr>
          <a:xfrm>
            <a:off x="812756" y="1153122"/>
            <a:ext cx="10883481" cy="919497"/>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Few small businesses use government financing, and awareness of programs is limited</a:t>
            </a:r>
            <a:endParaRPr lang="en-US" sz="3200" dirty="0"/>
          </a:p>
        </p:txBody>
      </p:sp>
      <p:sp>
        <p:nvSpPr>
          <p:cNvPr id="4" name="Shape 2"/>
          <p:cNvSpPr/>
          <p:nvPr/>
        </p:nvSpPr>
        <p:spPr>
          <a:xfrm>
            <a:off x="815931" y="3179485"/>
            <a:ext cx="2485224" cy="2659339"/>
          </a:xfrm>
          <a:prstGeom prst="roundRect">
            <a:avLst>
              <a:gd name="adj" fmla="val 4982"/>
            </a:avLst>
          </a:prstGeom>
          <a:solidFill>
            <a:srgbClr val="FBFCFE"/>
          </a:solidFill>
          <a:ln w="6350">
            <a:solidFill>
              <a:srgbClr val="DCE3EE"/>
            </a:solidFill>
            <a:prstDash val="solid"/>
          </a:ln>
        </p:spPr>
      </p:sp>
      <p:sp>
        <p:nvSpPr>
          <p:cNvPr id="5" name="Text 3"/>
          <p:cNvSpPr/>
          <p:nvPr/>
        </p:nvSpPr>
        <p:spPr>
          <a:xfrm>
            <a:off x="1071417" y="3434970"/>
            <a:ext cx="2033480" cy="685814"/>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1%</a:t>
            </a:r>
            <a:endParaRPr lang="en-US" sz="5200" dirty="0"/>
          </a:p>
        </p:txBody>
      </p:sp>
      <p:sp>
        <p:nvSpPr>
          <p:cNvPr id="6" name="Text 4"/>
          <p:cNvSpPr/>
          <p:nvPr/>
        </p:nvSpPr>
        <p:spPr>
          <a:xfrm>
            <a:off x="1071417" y="4196970"/>
            <a:ext cx="2033480" cy="118070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of small businesses requested government financing in 2024, against 24% for trade credit and 9% for debt</a:t>
            </a:r>
            <a:endParaRPr lang="en-US" sz="1300" dirty="0"/>
          </a:p>
        </p:txBody>
      </p:sp>
      <p:sp>
        <p:nvSpPr>
          <p:cNvPr id="7" name="Shape 5"/>
          <p:cNvSpPr/>
          <p:nvPr/>
        </p:nvSpPr>
        <p:spPr>
          <a:xfrm>
            <a:off x="3510676" y="3179485"/>
            <a:ext cx="2485224" cy="2659339"/>
          </a:xfrm>
          <a:prstGeom prst="roundRect">
            <a:avLst>
              <a:gd name="adj" fmla="val 4982"/>
            </a:avLst>
          </a:prstGeom>
          <a:solidFill>
            <a:srgbClr val="FBFCFE"/>
          </a:solidFill>
          <a:ln w="6350">
            <a:solidFill>
              <a:srgbClr val="DCE3EE"/>
            </a:solidFill>
            <a:prstDash val="solid"/>
          </a:ln>
        </p:spPr>
      </p:sp>
      <p:sp>
        <p:nvSpPr>
          <p:cNvPr id="8" name="Text 6"/>
          <p:cNvSpPr/>
          <p:nvPr/>
        </p:nvSpPr>
        <p:spPr>
          <a:xfrm>
            <a:off x="3766161" y="3434970"/>
            <a:ext cx="2033480" cy="685814"/>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79%</a:t>
            </a:r>
            <a:endParaRPr lang="en-US" sz="5200" dirty="0"/>
          </a:p>
        </p:txBody>
      </p:sp>
      <p:sp>
        <p:nvSpPr>
          <p:cNvPr id="9" name="Text 7"/>
          <p:cNvSpPr/>
          <p:nvPr/>
        </p:nvSpPr>
        <p:spPr>
          <a:xfrm>
            <a:off x="3766161" y="4196970"/>
            <a:ext cx="2033480" cy="9496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of those government financing requests were approved, so the programs do say yes</a:t>
            </a:r>
            <a:endParaRPr lang="en-US" sz="1300" dirty="0"/>
          </a:p>
        </p:txBody>
      </p:sp>
      <p:sp>
        <p:nvSpPr>
          <p:cNvPr id="10" name="Shape 8"/>
          <p:cNvSpPr/>
          <p:nvPr/>
        </p:nvSpPr>
        <p:spPr>
          <a:xfrm>
            <a:off x="6205420" y="3179485"/>
            <a:ext cx="2485224" cy="2659339"/>
          </a:xfrm>
          <a:prstGeom prst="roundRect">
            <a:avLst>
              <a:gd name="adj" fmla="val 4982"/>
            </a:avLst>
          </a:prstGeom>
          <a:solidFill>
            <a:srgbClr val="FBFCFE"/>
          </a:solidFill>
          <a:ln w="6350">
            <a:solidFill>
              <a:srgbClr val="DCE3EE"/>
            </a:solidFill>
            <a:prstDash val="solid"/>
          </a:ln>
        </p:spPr>
      </p:sp>
      <p:sp>
        <p:nvSpPr>
          <p:cNvPr id="11" name="Text 9"/>
          <p:cNvSpPr/>
          <p:nvPr/>
        </p:nvSpPr>
        <p:spPr>
          <a:xfrm>
            <a:off x="6460906" y="3434970"/>
            <a:ext cx="2033480" cy="685814"/>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2554E0"/>
                </a:solidFill>
                <a:latin typeface="Inter" pitchFamily="34" charset="0"/>
                <a:ea typeface="Inter" pitchFamily="34" charset="-122"/>
                <a:cs typeface="Inter" pitchFamily="34" charset="-120"/>
              </a:rPr>
              <a:t>16%</a:t>
            </a:r>
            <a:endParaRPr lang="en-US" sz="5200" dirty="0"/>
          </a:p>
        </p:txBody>
      </p:sp>
      <p:sp>
        <p:nvSpPr>
          <p:cNvPr id="12" name="Text 10"/>
          <p:cNvSpPr/>
          <p:nvPr/>
        </p:nvSpPr>
        <p:spPr>
          <a:xfrm>
            <a:off x="6460906" y="4196970"/>
            <a:ext cx="2033480" cy="14117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of businesses that did not use the Canada Small Business Financing Program knew it existed (34% of borrowers)</a:t>
            </a:r>
            <a:endParaRPr lang="en-US" sz="1300" dirty="0"/>
          </a:p>
        </p:txBody>
      </p:sp>
      <p:sp>
        <p:nvSpPr>
          <p:cNvPr id="13" name="Shape 11"/>
          <p:cNvSpPr/>
          <p:nvPr/>
        </p:nvSpPr>
        <p:spPr>
          <a:xfrm>
            <a:off x="8896990" y="3176310"/>
            <a:ext cx="2482253" cy="2665689"/>
          </a:xfrm>
          <a:prstGeom prst="roundRect">
            <a:avLst>
              <a:gd name="adj" fmla="val 5116"/>
            </a:avLst>
          </a:prstGeom>
          <a:solidFill>
            <a:srgbClr val="0F1F3D"/>
          </a:solidFill>
          <a:ln/>
        </p:spPr>
      </p:sp>
      <p:sp>
        <p:nvSpPr>
          <p:cNvPr id="14" name="Text 12"/>
          <p:cNvSpPr/>
          <p:nvPr/>
        </p:nvSpPr>
        <p:spPr>
          <a:xfrm>
            <a:off x="9150990" y="3430310"/>
            <a:ext cx="2033480" cy="685814"/>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FFB020"/>
                </a:solidFill>
                <a:latin typeface="Inter" pitchFamily="34" charset="0"/>
                <a:ea typeface="Inter" pitchFamily="34" charset="-122"/>
                <a:cs typeface="Inter" pitchFamily="34" charset="-120"/>
              </a:rPr>
              <a:t>34%</a:t>
            </a:r>
            <a:endParaRPr lang="en-US" sz="5200" dirty="0"/>
          </a:p>
        </p:txBody>
      </p:sp>
      <p:sp>
        <p:nvSpPr>
          <p:cNvPr id="15" name="Text 13"/>
          <p:cNvSpPr/>
          <p:nvPr/>
        </p:nvSpPr>
        <p:spPr>
          <a:xfrm>
            <a:off x="9150990" y="4192310"/>
            <a:ext cx="2033480" cy="118070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7D6F7"/>
                </a:solidFill>
                <a:latin typeface="Inter" pitchFamily="34" charset="0"/>
                <a:ea typeface="Inter" pitchFamily="34" charset="-122"/>
                <a:cs typeface="Inter" pitchFamily="34" charset="-120"/>
              </a:rPr>
              <a:t>of those same non-users were aware of any federal financing support program (43% of borrowers)</a:t>
            </a:r>
            <a:endParaRPr lang="en-US" sz="1300" dirty="0"/>
          </a:p>
        </p:txBody>
      </p:sp>
      <p:sp>
        <p:nvSpPr>
          <p:cNvPr id="16" name="Text 14"/>
          <p:cNvSpPr/>
          <p:nvPr/>
        </p:nvSpPr>
        <p:spPr>
          <a:xfrm>
            <a:off x="812756" y="6238291"/>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Sources: ISED Credit Conditions Survey 2024 (1,825 small businesses); ISED Borrower Awareness and Satisfaction Study 2023–2024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READING THE NUMBERS HONESTLY</a:t>
            </a:r>
            <a:endParaRPr lang="en-US" sz="1200" dirty="0"/>
          </a:p>
        </p:txBody>
      </p:sp>
      <p:sp>
        <p:nvSpPr>
          <p:cNvPr id="3" name="Text 1"/>
          <p:cNvSpPr/>
          <p:nvPr>
            <p:ph type="title"/>
          </p:nvPr>
        </p:nvSpPr>
        <p:spPr>
          <a:xfrm>
            <a:off x="812756" y="1153123"/>
            <a:ext cx="11379244"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What the data supports, and what it does not show yet</a:t>
            </a:r>
            <a:endParaRPr lang="en-US" sz="3200" dirty="0"/>
          </a:p>
        </p:txBody>
      </p:sp>
      <p:sp>
        <p:nvSpPr>
          <p:cNvPr id="4" name="Shape 2"/>
          <p:cNvSpPr/>
          <p:nvPr/>
        </p:nvSpPr>
        <p:spPr>
          <a:xfrm>
            <a:off x="815931" y="3188224"/>
            <a:ext cx="5149893" cy="2650600"/>
          </a:xfrm>
          <a:prstGeom prst="roundRect">
            <a:avLst>
              <a:gd name="adj" fmla="val 5630"/>
            </a:avLst>
          </a:prstGeom>
          <a:solidFill>
            <a:srgbClr val="E6F6EF"/>
          </a:solidFill>
          <a:ln w="6350">
            <a:solidFill>
              <a:srgbClr val="BFE6D4"/>
            </a:solidFill>
            <a:prstDash val="solid"/>
          </a:ln>
        </p:spPr>
      </p:sp>
      <p:pic>
        <p:nvPicPr>
          <p:cNvPr id="5" name="Image 0" descr="CheckCircle">    </p:cNvPr>
          <p:cNvPicPr>
            <a:picLocks noChangeAspect="1"/>
          </p:cNvPicPr>
          <p:nvPr/>
        </p:nvPicPr>
        <p:blipFill>
          <a:blip r:embed="rId1"/>
          <a:srcRect l="0" r="0" t="0" b="0"/>
          <a:stretch/>
        </p:blipFill>
        <p:spPr>
          <a:xfrm>
            <a:off x="1096759" y="3469053"/>
            <a:ext cx="279342" cy="279342"/>
          </a:xfrm>
          <a:prstGeom prst="rect">
            <a:avLst/>
          </a:prstGeom>
        </p:spPr>
      </p:pic>
      <p:sp>
        <p:nvSpPr>
          <p:cNvPr id="6" name="Text 3"/>
          <p:cNvSpPr/>
          <p:nvPr/>
        </p:nvSpPr>
        <p:spPr>
          <a:xfrm>
            <a:off x="1477686" y="3471602"/>
            <a:ext cx="1454092" cy="29964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54"/>
                </a:solidFill>
                <a:latin typeface="Inter" pitchFamily="34" charset="0"/>
                <a:ea typeface="Inter" pitchFamily="34" charset="-122"/>
                <a:cs typeface="Inter" pitchFamily="34" charset="-120"/>
              </a:rPr>
              <a:t>It supports</a:t>
            </a:r>
            <a:endParaRPr lang="en-US" sz="1800" dirty="0"/>
          </a:p>
        </p:txBody>
      </p:sp>
      <p:sp>
        <p:nvSpPr>
          <p:cNvPr id="7" name="Text 4"/>
          <p:cNvSpPr/>
          <p:nvPr/>
        </p:nvSpPr>
        <p:spPr>
          <a:xfrm>
            <a:off x="1174229" y="3900736"/>
            <a:ext cx="4640796" cy="1682662"/>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Programs exist at scale, and 79% of government financing requests are approved.</a:t>
            </a:r>
            <a:endParaRPr lang="en-US" sz="1500" dirty="0"/>
          </a:p>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Awareness of specific programs is low: 16% to 34%, depending on the group.</a:t>
            </a:r>
            <a:endParaRPr lang="en-US" sz="1500" dirty="0"/>
          </a:p>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The audience is very large: 1.10 million employer businesses.</a:t>
            </a:r>
            <a:endParaRPr lang="en-US" sz="1500" dirty="0"/>
          </a:p>
        </p:txBody>
      </p:sp>
      <p:sp>
        <p:nvSpPr>
          <p:cNvPr id="8" name="Shape 5"/>
          <p:cNvSpPr/>
          <p:nvPr/>
        </p:nvSpPr>
        <p:spPr>
          <a:xfrm>
            <a:off x="6226175" y="3188224"/>
            <a:ext cx="5149893" cy="2650600"/>
          </a:xfrm>
          <a:prstGeom prst="roundRect">
            <a:avLst>
              <a:gd name="adj" fmla="val 5630"/>
            </a:avLst>
          </a:prstGeom>
          <a:solidFill>
            <a:srgbClr val="FFF4DB"/>
          </a:solidFill>
          <a:ln w="6350">
            <a:solidFill>
              <a:srgbClr val="F5D78F"/>
            </a:solidFill>
            <a:prstDash val="solid"/>
          </a:ln>
        </p:spPr>
      </p:sp>
      <p:pic>
        <p:nvPicPr>
          <p:cNvPr id="9" name="Image 1" descr="Warning">    </p:cNvPr>
          <p:cNvPicPr>
            <a:picLocks noChangeAspect="1"/>
          </p:cNvPicPr>
          <p:nvPr/>
        </p:nvPicPr>
        <p:blipFill>
          <a:blip r:embed="rId2"/>
          <a:srcRect l="0" r="0" t="0" b="0"/>
          <a:stretch/>
        </p:blipFill>
        <p:spPr>
          <a:xfrm>
            <a:off x="6507002" y="3469053"/>
            <a:ext cx="279342" cy="279342"/>
          </a:xfrm>
          <a:prstGeom prst="rect">
            <a:avLst/>
          </a:prstGeom>
        </p:spPr>
      </p:pic>
      <p:sp>
        <p:nvSpPr>
          <p:cNvPr id="10" name="Text 6"/>
          <p:cNvSpPr/>
          <p:nvPr/>
        </p:nvSpPr>
        <p:spPr>
          <a:xfrm>
            <a:off x="6887929" y="3471602"/>
            <a:ext cx="2685263" cy="29964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A5A00"/>
                </a:solidFill>
                <a:latin typeface="Inter" pitchFamily="34" charset="0"/>
                <a:ea typeface="Inter" pitchFamily="34" charset="-122"/>
                <a:cs typeface="Inter" pitchFamily="34" charset="-120"/>
              </a:rPr>
              <a:t>It does not show yet</a:t>
            </a:r>
            <a:endParaRPr lang="en-US" sz="1800" dirty="0"/>
          </a:p>
        </p:txBody>
      </p:sp>
      <p:sp>
        <p:nvSpPr>
          <p:cNvPr id="11" name="Text 7"/>
          <p:cNvSpPr/>
          <p:nvPr/>
        </p:nvSpPr>
        <p:spPr>
          <a:xfrm>
            <a:off x="6584472" y="3900736"/>
            <a:ext cx="4640796" cy="1682662"/>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79% of small businesses said they did not need financing in 2024.</a:t>
            </a:r>
            <a:endParaRPr lang="en-US" sz="1500" dirty="0"/>
          </a:p>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Only 1% named being unaware of financing sources as their main reason for not seeking it.</a:t>
            </a:r>
            <a:endParaRPr lang="en-US" sz="1500" dirty="0"/>
          </a:p>
          <a:p>
            <a:pPr algn="l" marL="176530" indent="-176530">
              <a:lnSpc>
                <a:spcPts val="2175"/>
              </a:lnSpc>
              <a:buSzPct val="100000"/>
              <a:buChar char="•"/>
            </a:pPr>
            <a:r>
              <a:rPr lang="en-US" sz="1500" dirty="0">
                <a:solidFill>
                  <a:srgbClr val="0F1F3D"/>
                </a:solidFill>
                <a:latin typeface="Inter" pitchFamily="34" charset="0"/>
                <a:ea typeface="Inter" pitchFamily="34" charset="-122"/>
                <a:cs typeface="Inter" pitchFamily="34" charset="-120"/>
              </a:rPr>
              <a:t>No national figure tells us how hard programs are to find or understand.</a:t>
            </a:r>
            <a:endParaRPr lang="en-US" sz="1500" dirty="0"/>
          </a:p>
        </p:txBody>
      </p:sp>
      <p:sp>
        <p:nvSpPr>
          <p:cNvPr id="12" name="Text 8"/>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The opportunity is for owners who do need support. This project assumes it and does not claim to have measured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020"/>
                </a:solidFill>
                <a:latin typeface="Inter" pitchFamily="34" charset="0"/>
                <a:ea typeface="Inter" pitchFamily="34" charset="-122"/>
                <a:cs typeface="Inter" pitchFamily="34" charset="-120"/>
              </a:rPr>
              <a:t>THE OWNER’S PAIN: HYPOTHESES TO TEST</a:t>
            </a:r>
            <a:endParaRPr lang="en-US" sz="1200" dirty="0"/>
          </a:p>
        </p:txBody>
      </p:sp>
      <p:sp>
        <p:nvSpPr>
          <p:cNvPr id="3" name="Text 1"/>
          <p:cNvSpPr/>
          <p:nvPr>
            <p:ph type="title"/>
          </p:nvPr>
        </p:nvSpPr>
        <p:spPr>
          <a:xfrm>
            <a:off x="812756" y="1153123"/>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6F8FC"/>
                </a:solidFill>
                <a:latin typeface="Inter" pitchFamily="34" charset="0"/>
                <a:ea typeface="Inter" pitchFamily="34" charset="-122"/>
                <a:cs typeface="Inter" pitchFamily="34" charset="-120"/>
              </a:rPr>
              <a:t>What a business owner may be thinking</a:t>
            </a:r>
            <a:endParaRPr lang="en-US" sz="3200" dirty="0"/>
          </a:p>
        </p:txBody>
      </p:sp>
      <p:sp>
        <p:nvSpPr>
          <p:cNvPr id="4" name="Shape 2"/>
          <p:cNvSpPr/>
          <p:nvPr/>
        </p:nvSpPr>
        <p:spPr>
          <a:xfrm>
            <a:off x="815931" y="2166618"/>
            <a:ext cx="10560137" cy="648093"/>
          </a:xfrm>
          <a:prstGeom prst="roundRect">
            <a:avLst>
              <a:gd name="adj" fmla="val 15187"/>
            </a:avLst>
          </a:prstGeom>
          <a:solidFill>
            <a:srgbClr val="172B52"/>
          </a:solidFill>
          <a:ln w="6350">
            <a:solidFill>
              <a:srgbClr val="2A4373"/>
            </a:solidFill>
            <a:prstDash val="solid"/>
          </a:ln>
        </p:spPr>
      </p:sp>
      <p:sp>
        <p:nvSpPr>
          <p:cNvPr id="5" name="Text 3"/>
          <p:cNvSpPr/>
          <p:nvPr/>
        </p:nvSpPr>
        <p:spPr>
          <a:xfrm>
            <a:off x="1020588" y="2295103"/>
            <a:ext cx="457142"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020"/>
                </a:solidFill>
                <a:latin typeface="Inter" pitchFamily="34" charset="0"/>
                <a:ea typeface="Inter" pitchFamily="34" charset="-122"/>
                <a:cs typeface="Inter" pitchFamily="34" charset="-120"/>
              </a:rPr>
              <a:t>1</a:t>
            </a:r>
            <a:endParaRPr lang="en-US" sz="2200" dirty="0"/>
          </a:p>
        </p:txBody>
      </p:sp>
      <p:sp>
        <p:nvSpPr>
          <p:cNvPr id="6" name="Text 4"/>
          <p:cNvSpPr/>
          <p:nvPr/>
        </p:nvSpPr>
        <p:spPr>
          <a:xfrm>
            <a:off x="1604686" y="2339522"/>
            <a:ext cx="6802510" cy="32768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8FC"/>
                </a:solidFill>
                <a:latin typeface="Inter" pitchFamily="34" charset="0"/>
                <a:ea typeface="Inter" pitchFamily="34" charset="-122"/>
                <a:cs typeface="Inter" pitchFamily="34" charset="-120"/>
              </a:rPr>
              <a:t>“I do not know which programs exist for my business.”</a:t>
            </a:r>
            <a:endParaRPr lang="en-US" sz="1700" dirty="0"/>
          </a:p>
        </p:txBody>
      </p:sp>
      <p:sp>
        <p:nvSpPr>
          <p:cNvPr id="7" name="Shape 5"/>
          <p:cNvSpPr/>
          <p:nvPr/>
        </p:nvSpPr>
        <p:spPr>
          <a:xfrm>
            <a:off x="815931" y="2922646"/>
            <a:ext cx="10560137" cy="648093"/>
          </a:xfrm>
          <a:prstGeom prst="roundRect">
            <a:avLst>
              <a:gd name="adj" fmla="val 15187"/>
            </a:avLst>
          </a:prstGeom>
          <a:solidFill>
            <a:srgbClr val="172B52"/>
          </a:solidFill>
          <a:ln w="6350">
            <a:solidFill>
              <a:srgbClr val="2A4373"/>
            </a:solidFill>
            <a:prstDash val="solid"/>
          </a:ln>
        </p:spPr>
      </p:sp>
      <p:sp>
        <p:nvSpPr>
          <p:cNvPr id="8" name="Text 6"/>
          <p:cNvSpPr/>
          <p:nvPr/>
        </p:nvSpPr>
        <p:spPr>
          <a:xfrm>
            <a:off x="1020588" y="3051132"/>
            <a:ext cx="457142"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020"/>
                </a:solidFill>
                <a:latin typeface="Inter" pitchFamily="34" charset="0"/>
                <a:ea typeface="Inter" pitchFamily="34" charset="-122"/>
                <a:cs typeface="Inter" pitchFamily="34" charset="-120"/>
              </a:rPr>
              <a:t>2</a:t>
            </a:r>
            <a:endParaRPr lang="en-US" sz="2200" dirty="0"/>
          </a:p>
        </p:txBody>
      </p:sp>
      <p:sp>
        <p:nvSpPr>
          <p:cNvPr id="9" name="Text 7"/>
          <p:cNvSpPr/>
          <p:nvPr/>
        </p:nvSpPr>
        <p:spPr>
          <a:xfrm>
            <a:off x="1604686" y="3095554"/>
            <a:ext cx="3921416" cy="32768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8FC"/>
                </a:solidFill>
                <a:latin typeface="Inter" pitchFamily="34" charset="0"/>
                <a:ea typeface="Inter" pitchFamily="34" charset="-122"/>
                <a:cs typeface="Inter" pitchFamily="34" charset="-120"/>
              </a:rPr>
              <a:t>“I cannot tell whether I qualify.”</a:t>
            </a:r>
            <a:endParaRPr lang="en-US" sz="1700" dirty="0"/>
          </a:p>
        </p:txBody>
      </p:sp>
      <p:sp>
        <p:nvSpPr>
          <p:cNvPr id="10" name="Shape 8"/>
          <p:cNvSpPr/>
          <p:nvPr/>
        </p:nvSpPr>
        <p:spPr>
          <a:xfrm>
            <a:off x="815931" y="3678675"/>
            <a:ext cx="10560137" cy="648093"/>
          </a:xfrm>
          <a:prstGeom prst="roundRect">
            <a:avLst>
              <a:gd name="adj" fmla="val 15187"/>
            </a:avLst>
          </a:prstGeom>
          <a:solidFill>
            <a:srgbClr val="172B52"/>
          </a:solidFill>
          <a:ln w="6350">
            <a:solidFill>
              <a:srgbClr val="2A4373"/>
            </a:solidFill>
            <a:prstDash val="solid"/>
          </a:ln>
        </p:spPr>
      </p:sp>
      <p:sp>
        <p:nvSpPr>
          <p:cNvPr id="11" name="Text 9"/>
          <p:cNvSpPr/>
          <p:nvPr/>
        </p:nvSpPr>
        <p:spPr>
          <a:xfrm>
            <a:off x="1020588" y="3807160"/>
            <a:ext cx="457142"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020"/>
                </a:solidFill>
                <a:latin typeface="Inter" pitchFamily="34" charset="0"/>
                <a:ea typeface="Inter" pitchFamily="34" charset="-122"/>
                <a:cs typeface="Inter" pitchFamily="34" charset="-120"/>
              </a:rPr>
              <a:t>3</a:t>
            </a:r>
            <a:endParaRPr lang="en-US" sz="2200" dirty="0"/>
          </a:p>
        </p:txBody>
      </p:sp>
      <p:sp>
        <p:nvSpPr>
          <p:cNvPr id="12" name="Text 10"/>
          <p:cNvSpPr/>
          <p:nvPr/>
        </p:nvSpPr>
        <p:spPr>
          <a:xfrm>
            <a:off x="1604686" y="3851582"/>
            <a:ext cx="6429811" cy="32768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8FC"/>
                </a:solidFill>
                <a:latin typeface="Inter" pitchFamily="34" charset="0"/>
                <a:ea typeface="Inter" pitchFamily="34" charset="-122"/>
                <a:cs typeface="Inter" pitchFamily="34" charset="-120"/>
              </a:rPr>
              <a:t>“Every program site uses its own words and steps.”</a:t>
            </a:r>
            <a:endParaRPr lang="en-US" sz="1700" dirty="0"/>
          </a:p>
        </p:txBody>
      </p:sp>
      <p:sp>
        <p:nvSpPr>
          <p:cNvPr id="13" name="Shape 11"/>
          <p:cNvSpPr/>
          <p:nvPr/>
        </p:nvSpPr>
        <p:spPr>
          <a:xfrm>
            <a:off x="815931" y="4434703"/>
            <a:ext cx="10560137" cy="648093"/>
          </a:xfrm>
          <a:prstGeom prst="roundRect">
            <a:avLst>
              <a:gd name="adj" fmla="val 15187"/>
            </a:avLst>
          </a:prstGeom>
          <a:solidFill>
            <a:srgbClr val="172B52"/>
          </a:solidFill>
          <a:ln w="6350">
            <a:solidFill>
              <a:srgbClr val="2A4373"/>
            </a:solidFill>
            <a:prstDash val="solid"/>
          </a:ln>
        </p:spPr>
      </p:sp>
      <p:sp>
        <p:nvSpPr>
          <p:cNvPr id="14" name="Text 12"/>
          <p:cNvSpPr/>
          <p:nvPr/>
        </p:nvSpPr>
        <p:spPr>
          <a:xfrm>
            <a:off x="1020588" y="4563188"/>
            <a:ext cx="457142"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020"/>
                </a:solidFill>
                <a:latin typeface="Inter" pitchFamily="34" charset="0"/>
                <a:ea typeface="Inter" pitchFamily="34" charset="-122"/>
                <a:cs typeface="Inter" pitchFamily="34" charset="-120"/>
              </a:rPr>
              <a:t>4</a:t>
            </a:r>
            <a:endParaRPr lang="en-US" sz="2200" dirty="0"/>
          </a:p>
        </p:txBody>
      </p:sp>
      <p:sp>
        <p:nvSpPr>
          <p:cNvPr id="15" name="Text 13"/>
          <p:cNvSpPr/>
          <p:nvPr/>
        </p:nvSpPr>
        <p:spPr>
          <a:xfrm>
            <a:off x="1604686" y="4607610"/>
            <a:ext cx="6059123" cy="32768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8FC"/>
                </a:solidFill>
                <a:latin typeface="Inter" pitchFamily="34" charset="0"/>
                <a:ea typeface="Inter" pitchFamily="34" charset="-122"/>
                <a:cs typeface="Inter" pitchFamily="34" charset="-120"/>
              </a:rPr>
              <a:t>“I do not know what to prepare before applying.”</a:t>
            </a:r>
            <a:endParaRPr lang="en-US" sz="1700" dirty="0"/>
          </a:p>
        </p:txBody>
      </p:sp>
      <p:sp>
        <p:nvSpPr>
          <p:cNvPr id="16" name="Shape 14"/>
          <p:cNvSpPr/>
          <p:nvPr/>
        </p:nvSpPr>
        <p:spPr>
          <a:xfrm>
            <a:off x="815931" y="5190731"/>
            <a:ext cx="10560137" cy="648093"/>
          </a:xfrm>
          <a:prstGeom prst="roundRect">
            <a:avLst>
              <a:gd name="adj" fmla="val 15187"/>
            </a:avLst>
          </a:prstGeom>
          <a:solidFill>
            <a:srgbClr val="172B52"/>
          </a:solidFill>
          <a:ln w="6350">
            <a:solidFill>
              <a:srgbClr val="2A4373"/>
            </a:solidFill>
            <a:prstDash val="solid"/>
          </a:ln>
        </p:spPr>
      </p:sp>
      <p:sp>
        <p:nvSpPr>
          <p:cNvPr id="17" name="Text 15"/>
          <p:cNvSpPr/>
          <p:nvPr/>
        </p:nvSpPr>
        <p:spPr>
          <a:xfrm>
            <a:off x="1020588" y="5319216"/>
            <a:ext cx="457142"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020"/>
                </a:solidFill>
                <a:latin typeface="Inter" pitchFamily="34" charset="0"/>
                <a:ea typeface="Inter" pitchFamily="34" charset="-122"/>
                <a:cs typeface="Inter" pitchFamily="34" charset="-120"/>
              </a:rPr>
              <a:t>5</a:t>
            </a:r>
            <a:endParaRPr lang="en-US" sz="2200" dirty="0"/>
          </a:p>
        </p:txBody>
      </p:sp>
      <p:sp>
        <p:nvSpPr>
          <p:cNvPr id="18" name="Text 16"/>
          <p:cNvSpPr/>
          <p:nvPr/>
        </p:nvSpPr>
        <p:spPr>
          <a:xfrm>
            <a:off x="1604686" y="5363639"/>
            <a:ext cx="5190163" cy="32768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8FC"/>
                </a:solidFill>
                <a:latin typeface="Inter" pitchFamily="34" charset="0"/>
                <a:ea typeface="Inter" pitchFamily="34" charset="-122"/>
                <a:cs typeface="Inter" pitchFamily="34" charset="-120"/>
              </a:rPr>
              <a:t>“A wrong guess costs time I do not have.”</a:t>
            </a:r>
            <a:endParaRPr lang="en-US" sz="1700" dirty="0"/>
          </a:p>
        </p:txBody>
      </p:sp>
      <p:sp>
        <p:nvSpPr>
          <p:cNvPr id="19" name="Text 17"/>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6F7"/>
                </a:solidFill>
                <a:latin typeface="Inter" pitchFamily="34" charset="0"/>
                <a:ea typeface="Inter" pitchFamily="34" charset="-122"/>
                <a:cs typeface="Inter" pitchFamily="34" charset="-120"/>
              </a:rPr>
              <a:t>Hypotheses from the project’s design thinking, not survey results. They should be checked with feedback when possible.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THE PROPOSAL</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One place to find, understand and prepare</a:t>
            </a:r>
            <a:endParaRPr lang="en-US" sz="3200" dirty="0"/>
          </a:p>
        </p:txBody>
      </p:sp>
      <p:sp>
        <p:nvSpPr>
          <p:cNvPr id="4" name="Shape 2"/>
          <p:cNvSpPr/>
          <p:nvPr/>
        </p:nvSpPr>
        <p:spPr>
          <a:xfrm>
            <a:off x="815931" y="3301169"/>
            <a:ext cx="3380341" cy="2537655"/>
          </a:xfrm>
          <a:prstGeom prst="roundRect">
            <a:avLst>
              <a:gd name="adj" fmla="val 5880"/>
            </a:avLst>
          </a:prstGeom>
          <a:solidFill>
            <a:srgbClr val="FBFCFE"/>
          </a:solidFill>
          <a:ln w="6350">
            <a:solidFill>
              <a:srgbClr val="DCE3EE"/>
            </a:solidFill>
            <a:prstDash val="solid"/>
          </a:ln>
        </p:spPr>
      </p:sp>
      <p:pic>
        <p:nvPicPr>
          <p:cNvPr id="5" name="Image 0" descr="Search">    </p:cNvPr>
          <p:cNvPicPr>
            <a:picLocks noChangeAspect="1"/>
          </p:cNvPicPr>
          <p:nvPr/>
        </p:nvPicPr>
        <p:blipFill>
          <a:blip r:embed="rId1"/>
          <a:srcRect l="0" r="0" t="0" b="0"/>
          <a:stretch/>
        </p:blipFill>
        <p:spPr>
          <a:xfrm>
            <a:off x="1096759" y="3581995"/>
            <a:ext cx="355585" cy="355585"/>
          </a:xfrm>
          <a:prstGeom prst="rect">
            <a:avLst/>
          </a:prstGeom>
        </p:spPr>
      </p:pic>
      <p:sp>
        <p:nvSpPr>
          <p:cNvPr id="6" name="Text 3"/>
          <p:cNvSpPr/>
          <p:nvPr/>
        </p:nvSpPr>
        <p:spPr>
          <a:xfrm>
            <a:off x="1096759" y="4064583"/>
            <a:ext cx="2903247"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F3D"/>
                </a:solidFill>
                <a:latin typeface="Inter" pitchFamily="34" charset="0"/>
                <a:ea typeface="Inter" pitchFamily="34" charset="-122"/>
                <a:cs typeface="Inter" pitchFamily="34" charset="-120"/>
              </a:rPr>
              <a:t>Find</a:t>
            </a:r>
            <a:endParaRPr lang="en-US" sz="2200" dirty="0"/>
          </a:p>
        </p:txBody>
      </p:sp>
      <p:sp>
        <p:nvSpPr>
          <p:cNvPr id="7" name="Text 4"/>
          <p:cNvSpPr/>
          <p:nvPr/>
        </p:nvSpPr>
        <p:spPr>
          <a:xfrm>
            <a:off x="1096759" y="4526849"/>
            <a:ext cx="2903247" cy="10565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F1F3D"/>
                </a:solidFill>
                <a:latin typeface="Inter" pitchFamily="34" charset="0"/>
                <a:ea typeface="Inter" pitchFamily="34" charset="-122"/>
                <a:cs typeface="Inter" pitchFamily="34" charset="-120"/>
              </a:rPr>
              <a:t>Search by Filters.</a:t>
            </a:r>
            <a:r>
              <a:rPr lang="en-US" sz="1400" dirty="0">
                <a:solidFill>
                  <a:srgbClr val="475569"/>
                </a:solidFill>
                <a:latin typeface="Inter" pitchFamily="34" charset="0"/>
                <a:ea typeface="Inter" pitchFamily="34" charset="-122"/>
                <a:cs typeface="Inter" pitchFamily="34" charset="-120"/>
              </a:rPr>
              <a:t> A directory of programs you can narrow by provider, type of support, goal, sector and province.</a:t>
            </a:r>
            <a:endParaRPr lang="en-US" sz="1400" dirty="0"/>
          </a:p>
        </p:txBody>
      </p:sp>
      <p:sp>
        <p:nvSpPr>
          <p:cNvPr id="8" name="Shape 5"/>
          <p:cNvSpPr/>
          <p:nvPr/>
        </p:nvSpPr>
        <p:spPr>
          <a:xfrm>
            <a:off x="4405793" y="3301169"/>
            <a:ext cx="3380413" cy="2537655"/>
          </a:xfrm>
          <a:prstGeom prst="roundRect">
            <a:avLst>
              <a:gd name="adj" fmla="val 5880"/>
            </a:avLst>
          </a:prstGeom>
          <a:solidFill>
            <a:srgbClr val="FBFCFE"/>
          </a:solidFill>
          <a:ln w="6350">
            <a:solidFill>
              <a:srgbClr val="DCE3EE"/>
            </a:solidFill>
            <a:prstDash val="solid"/>
          </a:ln>
        </p:spPr>
      </p:sp>
      <p:pic>
        <p:nvPicPr>
          <p:cNvPr id="9" name="Image 1" descr="CheckCircle">    </p:cNvPr>
          <p:cNvPicPr>
            <a:picLocks noChangeAspect="1"/>
          </p:cNvPicPr>
          <p:nvPr/>
        </p:nvPicPr>
        <p:blipFill>
          <a:blip r:embed="rId2"/>
          <a:srcRect l="0" r="0" t="0" b="0"/>
          <a:stretch/>
        </p:blipFill>
        <p:spPr>
          <a:xfrm>
            <a:off x="4686620" y="3581995"/>
            <a:ext cx="355585" cy="355585"/>
          </a:xfrm>
          <a:prstGeom prst="rect">
            <a:avLst/>
          </a:prstGeom>
        </p:spPr>
      </p:pic>
      <p:sp>
        <p:nvSpPr>
          <p:cNvPr id="10" name="Text 6"/>
          <p:cNvSpPr/>
          <p:nvPr/>
        </p:nvSpPr>
        <p:spPr>
          <a:xfrm>
            <a:off x="4686620" y="4064583"/>
            <a:ext cx="2903322"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F3D"/>
                </a:solidFill>
                <a:latin typeface="Inter" pitchFamily="34" charset="0"/>
                <a:ea typeface="Inter" pitchFamily="34" charset="-122"/>
                <a:cs typeface="Inter" pitchFamily="34" charset="-120"/>
              </a:rPr>
              <a:t>Understand</a:t>
            </a:r>
            <a:endParaRPr lang="en-US" sz="2200" dirty="0"/>
          </a:p>
        </p:txBody>
      </p:sp>
      <p:sp>
        <p:nvSpPr>
          <p:cNvPr id="11" name="Text 7"/>
          <p:cNvSpPr/>
          <p:nvPr/>
        </p:nvSpPr>
        <p:spPr>
          <a:xfrm>
            <a:off x="4686620" y="4526849"/>
            <a:ext cx="2903322" cy="10565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F1F3D"/>
                </a:solidFill>
                <a:latin typeface="Inter" pitchFamily="34" charset="0"/>
                <a:ea typeface="Inter" pitchFamily="34" charset="-122"/>
                <a:cs typeface="Inter" pitchFamily="34" charset="-120"/>
              </a:rPr>
              <a:t>Find My Support.</a:t>
            </a:r>
            <a:r>
              <a:rPr lang="en-US" sz="1400" dirty="0">
                <a:solidFill>
                  <a:srgbClr val="475569"/>
                </a:solidFill>
                <a:latin typeface="Inter" pitchFamily="34" charset="0"/>
                <a:ea typeface="Inter" pitchFamily="34" charset="-122"/>
                <a:cs typeface="Inter" pitchFamily="34" charset="-120"/>
              </a:rPr>
              <a:t> Five short questions, then programs sorted into match, maybe and not a match, with the reason for each.</a:t>
            </a:r>
            <a:endParaRPr lang="en-US" sz="1400" dirty="0"/>
          </a:p>
        </p:txBody>
      </p:sp>
      <p:sp>
        <p:nvSpPr>
          <p:cNvPr id="12" name="Shape 8"/>
          <p:cNvSpPr/>
          <p:nvPr/>
        </p:nvSpPr>
        <p:spPr>
          <a:xfrm>
            <a:off x="7995727" y="3301169"/>
            <a:ext cx="3380341" cy="2537655"/>
          </a:xfrm>
          <a:prstGeom prst="roundRect">
            <a:avLst>
              <a:gd name="adj" fmla="val 5880"/>
            </a:avLst>
          </a:prstGeom>
          <a:solidFill>
            <a:srgbClr val="FBFCFE"/>
          </a:solidFill>
          <a:ln w="6350">
            <a:solidFill>
              <a:srgbClr val="DCE3EE"/>
            </a:solidFill>
            <a:prstDash val="solid"/>
          </a:ln>
        </p:spPr>
      </p:sp>
      <p:pic>
        <p:nvPicPr>
          <p:cNvPr id="13" name="Image 2" descr="Book">    </p:cNvPr>
          <p:cNvPicPr>
            <a:picLocks noChangeAspect="1"/>
          </p:cNvPicPr>
          <p:nvPr/>
        </p:nvPicPr>
        <p:blipFill>
          <a:blip r:embed="rId3"/>
          <a:srcRect l="0" r="0" t="0" b="0"/>
          <a:stretch/>
        </p:blipFill>
        <p:spPr>
          <a:xfrm>
            <a:off x="8276554" y="3581995"/>
            <a:ext cx="355585" cy="355585"/>
          </a:xfrm>
          <a:prstGeom prst="rect">
            <a:avLst/>
          </a:prstGeom>
        </p:spPr>
      </p:pic>
      <p:sp>
        <p:nvSpPr>
          <p:cNvPr id="14" name="Text 9"/>
          <p:cNvSpPr/>
          <p:nvPr/>
        </p:nvSpPr>
        <p:spPr>
          <a:xfrm>
            <a:off x="8276554" y="4064583"/>
            <a:ext cx="2903247"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F3D"/>
                </a:solidFill>
                <a:latin typeface="Inter" pitchFamily="34" charset="0"/>
                <a:ea typeface="Inter" pitchFamily="34" charset="-122"/>
                <a:cs typeface="Inter" pitchFamily="34" charset="-120"/>
              </a:rPr>
              <a:t>Prepare</a:t>
            </a:r>
            <a:endParaRPr lang="en-US" sz="2200" dirty="0"/>
          </a:p>
        </p:txBody>
      </p:sp>
      <p:sp>
        <p:nvSpPr>
          <p:cNvPr id="15" name="Text 10"/>
          <p:cNvSpPr/>
          <p:nvPr/>
        </p:nvSpPr>
        <p:spPr>
          <a:xfrm>
            <a:off x="8276554" y="4526849"/>
            <a:ext cx="2903247" cy="10565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F1F3D"/>
                </a:solidFill>
                <a:latin typeface="Inter" pitchFamily="34" charset="0"/>
                <a:ea typeface="Inter" pitchFamily="34" charset="-122"/>
                <a:cs typeface="Inter" pitchFamily="34" charset="-120"/>
              </a:rPr>
              <a:t>My list and PDF.</a:t>
            </a:r>
            <a:r>
              <a:rPr lang="en-US" sz="1400" dirty="0">
                <a:solidFill>
                  <a:srgbClr val="475569"/>
                </a:solidFill>
                <a:latin typeface="Inter" pitchFamily="34" charset="0"/>
                <a:ea typeface="Inter" pitchFamily="34" charset="-122"/>
                <a:cs typeface="Inter" pitchFamily="34" charset="-120"/>
              </a:rPr>
              <a:t> Save programs, tick off a checklist of what to prepare, and download a report to share with an accountant.</a:t>
            </a:r>
            <a:endParaRPr lang="en-US" sz="1400" dirty="0"/>
          </a:p>
        </p:txBody>
      </p:sp>
      <p:sp>
        <p:nvSpPr>
          <p:cNvPr id="16" name="Text 11"/>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Every program links to its official website. The guide never applies on behalf of the business.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THE IDEA</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Six principles behind the product</a:t>
            </a:r>
            <a:endParaRPr lang="en-US" sz="3200" dirty="0"/>
          </a:p>
        </p:txBody>
      </p:sp>
      <p:sp>
        <p:nvSpPr>
          <p:cNvPr id="4" name="Shape 2"/>
          <p:cNvSpPr/>
          <p:nvPr/>
        </p:nvSpPr>
        <p:spPr>
          <a:xfrm>
            <a:off x="815931" y="3010247"/>
            <a:ext cx="3397308" cy="1206704"/>
          </a:xfrm>
          <a:prstGeom prst="roundRect">
            <a:avLst>
              <a:gd name="adj" fmla="val 10261"/>
            </a:avLst>
          </a:prstGeom>
          <a:solidFill>
            <a:srgbClr val="FBFCFE"/>
          </a:solidFill>
          <a:ln w="6350">
            <a:solidFill>
              <a:srgbClr val="DCE3EE"/>
            </a:solidFill>
            <a:prstDash val="solid"/>
          </a:ln>
        </p:spPr>
      </p:sp>
      <p:sp>
        <p:nvSpPr>
          <p:cNvPr id="5" name="Text 3"/>
          <p:cNvSpPr/>
          <p:nvPr/>
        </p:nvSpPr>
        <p:spPr>
          <a:xfrm>
            <a:off x="1020588" y="3214905"/>
            <a:ext cx="3077635"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Rules, not AI</a:t>
            </a:r>
            <a:endParaRPr lang="en-US" sz="1700" dirty="0"/>
          </a:p>
        </p:txBody>
      </p:sp>
      <p:sp>
        <p:nvSpPr>
          <p:cNvPr id="6" name="Text 4"/>
          <p:cNvSpPr/>
          <p:nvPr/>
        </p:nvSpPr>
        <p:spPr>
          <a:xfrm>
            <a:off x="1020588" y="3550174"/>
            <a:ext cx="3077635"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Matching follows each program’s published criteria. No black box.</a:t>
            </a:r>
            <a:endParaRPr lang="en-US" sz="1300" dirty="0"/>
          </a:p>
        </p:txBody>
      </p:sp>
      <p:sp>
        <p:nvSpPr>
          <p:cNvPr id="7" name="Shape 5"/>
          <p:cNvSpPr/>
          <p:nvPr/>
        </p:nvSpPr>
        <p:spPr>
          <a:xfrm>
            <a:off x="4397346" y="3010247"/>
            <a:ext cx="3397308" cy="1206704"/>
          </a:xfrm>
          <a:prstGeom prst="roundRect">
            <a:avLst>
              <a:gd name="adj" fmla="val 10261"/>
            </a:avLst>
          </a:prstGeom>
          <a:solidFill>
            <a:srgbClr val="FBFCFE"/>
          </a:solidFill>
          <a:ln w="6350">
            <a:solidFill>
              <a:srgbClr val="DCE3EE"/>
            </a:solidFill>
            <a:prstDash val="solid"/>
          </a:ln>
        </p:spPr>
      </p:sp>
      <p:sp>
        <p:nvSpPr>
          <p:cNvPr id="8" name="Text 6"/>
          <p:cNvSpPr/>
          <p:nvPr/>
        </p:nvSpPr>
        <p:spPr>
          <a:xfrm>
            <a:off x="4602002" y="3214905"/>
            <a:ext cx="3077635"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Always explained</a:t>
            </a:r>
            <a:endParaRPr lang="en-US" sz="1700" dirty="0"/>
          </a:p>
        </p:txBody>
      </p:sp>
      <p:sp>
        <p:nvSpPr>
          <p:cNvPr id="9" name="Text 7"/>
          <p:cNvSpPr/>
          <p:nvPr/>
        </p:nvSpPr>
        <p:spPr>
          <a:xfrm>
            <a:off x="4602002" y="3550174"/>
            <a:ext cx="3077635"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Every result says why: what fits, what to confirm, what does not.</a:t>
            </a:r>
            <a:endParaRPr lang="en-US" sz="1300" dirty="0"/>
          </a:p>
        </p:txBody>
      </p:sp>
      <p:sp>
        <p:nvSpPr>
          <p:cNvPr id="10" name="Shape 8"/>
          <p:cNvSpPr/>
          <p:nvPr/>
        </p:nvSpPr>
        <p:spPr>
          <a:xfrm>
            <a:off x="7978759" y="3010247"/>
            <a:ext cx="3397308" cy="1206704"/>
          </a:xfrm>
          <a:prstGeom prst="roundRect">
            <a:avLst>
              <a:gd name="adj" fmla="val 10261"/>
            </a:avLst>
          </a:prstGeom>
          <a:solidFill>
            <a:srgbClr val="FBFCFE"/>
          </a:solidFill>
          <a:ln w="6350">
            <a:solidFill>
              <a:srgbClr val="DCE3EE"/>
            </a:solidFill>
            <a:prstDash val="solid"/>
          </a:ln>
        </p:spPr>
      </p:sp>
      <p:sp>
        <p:nvSpPr>
          <p:cNvPr id="11" name="Text 9"/>
          <p:cNvSpPr/>
          <p:nvPr/>
        </p:nvSpPr>
        <p:spPr>
          <a:xfrm>
            <a:off x="8183416" y="3214905"/>
            <a:ext cx="3077635"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Honest</a:t>
            </a:r>
            <a:endParaRPr lang="en-US" sz="1700" dirty="0"/>
          </a:p>
        </p:txBody>
      </p:sp>
      <p:sp>
        <p:nvSpPr>
          <p:cNvPr id="12" name="Text 10"/>
          <p:cNvSpPr/>
          <p:nvPr/>
        </p:nvSpPr>
        <p:spPr>
          <a:xfrm>
            <a:off x="8183416" y="3550174"/>
            <a:ext cx="3077635"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 promises and no advice. Every program links to its official site.</a:t>
            </a:r>
            <a:endParaRPr lang="en-US" sz="1300" dirty="0"/>
          </a:p>
        </p:txBody>
      </p:sp>
      <p:sp>
        <p:nvSpPr>
          <p:cNvPr id="13" name="Shape 11"/>
          <p:cNvSpPr/>
          <p:nvPr/>
        </p:nvSpPr>
        <p:spPr>
          <a:xfrm>
            <a:off x="815931" y="4401055"/>
            <a:ext cx="3397308" cy="1437765"/>
          </a:xfrm>
          <a:prstGeom prst="roundRect">
            <a:avLst>
              <a:gd name="adj" fmla="val 8612"/>
            </a:avLst>
          </a:prstGeom>
          <a:solidFill>
            <a:srgbClr val="FBFCFE"/>
          </a:solidFill>
          <a:ln w="6350">
            <a:solidFill>
              <a:srgbClr val="DCE3EE"/>
            </a:solidFill>
            <a:prstDash val="solid"/>
          </a:ln>
        </p:spPr>
      </p:sp>
      <p:sp>
        <p:nvSpPr>
          <p:cNvPr id="14" name="Text 12"/>
          <p:cNvSpPr/>
          <p:nvPr/>
        </p:nvSpPr>
        <p:spPr>
          <a:xfrm>
            <a:off x="1020588" y="4605713"/>
            <a:ext cx="3077635"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Private by design</a:t>
            </a:r>
            <a:endParaRPr lang="en-US" sz="1700" dirty="0"/>
          </a:p>
        </p:txBody>
      </p:sp>
      <p:sp>
        <p:nvSpPr>
          <p:cNvPr id="15" name="Text 13"/>
          <p:cNvSpPr/>
          <p:nvPr/>
        </p:nvSpPr>
        <p:spPr>
          <a:xfrm>
            <a:off x="1020588" y="4940985"/>
            <a:ext cx="3077635" cy="7185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Nothing is saved unless you choose. Built with PIPEDA and Québec’s Law 25 in mind.</a:t>
            </a:r>
            <a:endParaRPr lang="en-US" sz="1300" dirty="0"/>
          </a:p>
        </p:txBody>
      </p:sp>
      <p:sp>
        <p:nvSpPr>
          <p:cNvPr id="16" name="Shape 14"/>
          <p:cNvSpPr/>
          <p:nvPr/>
        </p:nvSpPr>
        <p:spPr>
          <a:xfrm>
            <a:off x="4397346" y="4401055"/>
            <a:ext cx="3397308" cy="1437765"/>
          </a:xfrm>
          <a:prstGeom prst="roundRect">
            <a:avLst>
              <a:gd name="adj" fmla="val 8612"/>
            </a:avLst>
          </a:prstGeom>
          <a:solidFill>
            <a:srgbClr val="FBFCFE"/>
          </a:solidFill>
          <a:ln w="6350">
            <a:solidFill>
              <a:srgbClr val="DCE3EE"/>
            </a:solidFill>
            <a:prstDash val="solid"/>
          </a:ln>
        </p:spPr>
      </p:sp>
      <p:sp>
        <p:nvSpPr>
          <p:cNvPr id="17" name="Text 15"/>
          <p:cNvSpPr/>
          <p:nvPr/>
        </p:nvSpPr>
        <p:spPr>
          <a:xfrm>
            <a:off x="4602002" y="4605713"/>
            <a:ext cx="3077635"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Bilingual</a:t>
            </a:r>
            <a:endParaRPr lang="en-US" sz="1700" dirty="0"/>
          </a:p>
        </p:txBody>
      </p:sp>
      <p:sp>
        <p:nvSpPr>
          <p:cNvPr id="18" name="Text 16"/>
          <p:cNvSpPr/>
          <p:nvPr/>
        </p:nvSpPr>
        <p:spPr>
          <a:xfrm>
            <a:off x="4602002" y="4940985"/>
            <a:ext cx="3077635"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English (Canada) and French (Québec) from the first version.</a:t>
            </a:r>
            <a:endParaRPr lang="en-US" sz="1300" dirty="0"/>
          </a:p>
        </p:txBody>
      </p:sp>
      <p:sp>
        <p:nvSpPr>
          <p:cNvPr id="19" name="Shape 17"/>
          <p:cNvSpPr/>
          <p:nvPr/>
        </p:nvSpPr>
        <p:spPr>
          <a:xfrm>
            <a:off x="7975584" y="4397880"/>
            <a:ext cx="3403658" cy="1444115"/>
          </a:xfrm>
          <a:prstGeom prst="roundRect">
            <a:avLst>
              <a:gd name="adj" fmla="val 8794"/>
            </a:avLst>
          </a:prstGeom>
          <a:solidFill>
            <a:srgbClr val="0F1F3D"/>
          </a:solidFill>
          <a:ln/>
        </p:spPr>
      </p:sp>
      <p:sp>
        <p:nvSpPr>
          <p:cNvPr id="20" name="Text 18"/>
          <p:cNvSpPr/>
          <p:nvPr/>
        </p:nvSpPr>
        <p:spPr>
          <a:xfrm>
            <a:off x="8178756" y="4601056"/>
            <a:ext cx="3087236"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B020"/>
                </a:solidFill>
                <a:latin typeface="Inter" pitchFamily="34" charset="0"/>
                <a:ea typeface="Inter" pitchFamily="34" charset="-122"/>
                <a:cs typeface="Inter" pitchFamily="34" charset="-120"/>
              </a:rPr>
              <a:t>Independent</a:t>
            </a:r>
            <a:endParaRPr lang="en-US" sz="1700" dirty="0"/>
          </a:p>
        </p:txBody>
      </p:sp>
      <p:sp>
        <p:nvSpPr>
          <p:cNvPr id="21" name="Text 19"/>
          <p:cNvSpPr/>
          <p:nvPr/>
        </p:nvSpPr>
        <p:spPr>
          <a:xfrm>
            <a:off x="8178756" y="4936322"/>
            <a:ext cx="3087236"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7D6F7"/>
                </a:solidFill>
                <a:latin typeface="Inter" pitchFamily="34" charset="0"/>
                <a:ea typeface="Inter" pitchFamily="34" charset="-122"/>
                <a:cs typeface="Inter" pitchFamily="34" charset="-120"/>
              </a:rPr>
              <a:t>A non-commercial learning project, not a government website.</a:t>
            </a:r>
            <a:endParaRPr lang="en-US" sz="1300" dirty="0"/>
          </a:p>
        </p:txBody>
      </p:sp>
      <p:sp>
        <p:nvSpPr>
          <p:cNvPr id="22" name="Text 20"/>
          <p:cNvSpPr/>
          <p:nvPr/>
        </p:nvSpPr>
        <p:spPr>
          <a:xfrm>
            <a:off x="812756" y="6238289"/>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Privacy and legal points are design guidance, not legal advice. They need review before a public launch.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STRUCTURE</a:t>
            </a:r>
            <a:endParaRPr lang="en-US" sz="1200" dirty="0"/>
          </a:p>
        </p:txBody>
      </p:sp>
      <p:sp>
        <p:nvSpPr>
          <p:cNvPr id="3" name="Text 1"/>
          <p:cNvSpPr/>
          <p:nvPr>
            <p:ph type="title"/>
          </p:nvPr>
        </p:nvSpPr>
        <p:spPr>
          <a:xfrm>
            <a:off x="812756" y="1153127"/>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How the matching works</a:t>
            </a:r>
            <a:endParaRPr lang="en-US" sz="3200" dirty="0"/>
          </a:p>
        </p:txBody>
      </p:sp>
      <p:sp>
        <p:nvSpPr>
          <p:cNvPr id="4" name="Shape 2"/>
          <p:cNvSpPr/>
          <p:nvPr/>
        </p:nvSpPr>
        <p:spPr>
          <a:xfrm>
            <a:off x="815931" y="2576599"/>
            <a:ext cx="2180395" cy="1496240"/>
          </a:xfrm>
          <a:prstGeom prst="roundRect">
            <a:avLst>
              <a:gd name="adj" fmla="val 8276"/>
            </a:avLst>
          </a:prstGeom>
          <a:solidFill>
            <a:srgbClr val="FBFCFE"/>
          </a:solidFill>
          <a:ln w="6350">
            <a:solidFill>
              <a:srgbClr val="DCE3EE"/>
            </a:solidFill>
            <a:prstDash val="solid"/>
          </a:ln>
        </p:spPr>
      </p:sp>
      <p:sp>
        <p:nvSpPr>
          <p:cNvPr id="5" name="Text 3"/>
          <p:cNvSpPr/>
          <p:nvPr/>
        </p:nvSpPr>
        <p:spPr>
          <a:xfrm>
            <a:off x="995173" y="2781257"/>
            <a:ext cx="1876568" cy="23876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54E0"/>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95173" y="3070796"/>
            <a:ext cx="1876568"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Your profile</a:t>
            </a:r>
            <a:endParaRPr lang="en-US" sz="1700" dirty="0"/>
          </a:p>
        </p:txBody>
      </p:sp>
      <p:sp>
        <p:nvSpPr>
          <p:cNvPr id="7" name="Text 5"/>
          <p:cNvSpPr/>
          <p:nvPr/>
        </p:nvSpPr>
        <p:spPr>
          <a:xfrm>
            <a:off x="995173" y="3406062"/>
            <a:ext cx="1876568" cy="4875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Province, sector, size, goal and structure.</a:t>
            </a:r>
            <a:endParaRPr lang="en-US" sz="1300" dirty="0"/>
          </a:p>
        </p:txBody>
      </p:sp>
      <p:pic>
        <p:nvPicPr>
          <p:cNvPr id="8" name="Image 0" descr="arrow-right">    </p:cNvPr>
          <p:cNvPicPr>
            <a:picLocks noChangeAspect="1"/>
          </p:cNvPicPr>
          <p:nvPr/>
        </p:nvPicPr>
        <p:blipFill>
          <a:blip r:embed="rId1"/>
          <a:srcRect l="0" r="0" t="-2" b="-2"/>
          <a:stretch/>
        </p:blipFill>
        <p:spPr>
          <a:xfrm>
            <a:off x="3126501" y="3197721"/>
            <a:ext cx="355585" cy="254000"/>
          </a:xfrm>
          <a:prstGeom prst="rect">
            <a:avLst/>
          </a:prstGeom>
        </p:spPr>
      </p:pic>
      <p:sp>
        <p:nvSpPr>
          <p:cNvPr id="9" name="Shape 6"/>
          <p:cNvSpPr/>
          <p:nvPr/>
        </p:nvSpPr>
        <p:spPr>
          <a:xfrm>
            <a:off x="3612261" y="2461109"/>
            <a:ext cx="2180467" cy="1727302"/>
          </a:xfrm>
          <a:prstGeom prst="roundRect">
            <a:avLst>
              <a:gd name="adj" fmla="val 7169"/>
            </a:avLst>
          </a:prstGeom>
          <a:solidFill>
            <a:srgbClr val="FBFCFE"/>
          </a:solidFill>
          <a:ln w="6350">
            <a:solidFill>
              <a:srgbClr val="DCE3EE"/>
            </a:solidFill>
            <a:prstDash val="solid"/>
          </a:ln>
        </p:spPr>
      </p:sp>
      <p:sp>
        <p:nvSpPr>
          <p:cNvPr id="10" name="Text 7"/>
          <p:cNvSpPr/>
          <p:nvPr/>
        </p:nvSpPr>
        <p:spPr>
          <a:xfrm>
            <a:off x="3791503" y="2665766"/>
            <a:ext cx="1876643" cy="23876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54E0"/>
                </a:solidFill>
                <a:latin typeface="Inter" pitchFamily="34" charset="0"/>
                <a:ea typeface="Inter" pitchFamily="34" charset="-122"/>
                <a:cs typeface="Inter" pitchFamily="34" charset="-120"/>
              </a:rPr>
              <a:t>2</a:t>
            </a:r>
            <a:endParaRPr lang="en-US" sz="1200" dirty="0"/>
          </a:p>
        </p:txBody>
      </p:sp>
      <p:sp>
        <p:nvSpPr>
          <p:cNvPr id="11" name="Text 8"/>
          <p:cNvSpPr/>
          <p:nvPr/>
        </p:nvSpPr>
        <p:spPr>
          <a:xfrm>
            <a:off x="3791503" y="2955299"/>
            <a:ext cx="1876643"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Program rules</a:t>
            </a:r>
            <a:endParaRPr lang="en-US" sz="1700" dirty="0"/>
          </a:p>
        </p:txBody>
      </p:sp>
      <p:sp>
        <p:nvSpPr>
          <p:cNvPr id="12" name="Text 9"/>
          <p:cNvSpPr/>
          <p:nvPr/>
        </p:nvSpPr>
        <p:spPr>
          <a:xfrm>
            <a:off x="3791503" y="3290571"/>
            <a:ext cx="1876643" cy="7185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Published criteria for each program, entered as simple rules.</a:t>
            </a:r>
            <a:endParaRPr lang="en-US" sz="1300" dirty="0"/>
          </a:p>
        </p:txBody>
      </p:sp>
      <p:pic>
        <p:nvPicPr>
          <p:cNvPr id="13" name="Image 1" descr="arrow-right">    </p:cNvPr>
          <p:cNvPicPr>
            <a:picLocks noChangeAspect="1"/>
          </p:cNvPicPr>
          <p:nvPr/>
        </p:nvPicPr>
        <p:blipFill>
          <a:blip r:embed="rId2"/>
          <a:srcRect l="0" r="0" t="-2" b="-2"/>
          <a:stretch/>
        </p:blipFill>
        <p:spPr>
          <a:xfrm>
            <a:off x="5922904" y="3197721"/>
            <a:ext cx="355585" cy="254000"/>
          </a:xfrm>
          <a:prstGeom prst="rect">
            <a:avLst/>
          </a:prstGeom>
        </p:spPr>
      </p:pic>
      <p:sp>
        <p:nvSpPr>
          <p:cNvPr id="14" name="Shape 10"/>
          <p:cNvSpPr/>
          <p:nvPr/>
        </p:nvSpPr>
        <p:spPr>
          <a:xfrm>
            <a:off x="6408664" y="2461109"/>
            <a:ext cx="2180395" cy="1727302"/>
          </a:xfrm>
          <a:prstGeom prst="roundRect">
            <a:avLst>
              <a:gd name="adj" fmla="val 7169"/>
            </a:avLst>
          </a:prstGeom>
          <a:solidFill>
            <a:srgbClr val="FBFCFE"/>
          </a:solidFill>
          <a:ln w="6350">
            <a:solidFill>
              <a:srgbClr val="DCE3EE"/>
            </a:solidFill>
            <a:prstDash val="solid"/>
          </a:ln>
        </p:spPr>
      </p:sp>
      <p:sp>
        <p:nvSpPr>
          <p:cNvPr id="15" name="Text 11"/>
          <p:cNvSpPr/>
          <p:nvPr/>
        </p:nvSpPr>
        <p:spPr>
          <a:xfrm>
            <a:off x="6587906" y="2665766"/>
            <a:ext cx="1876568" cy="23876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54E0"/>
                </a:solidFill>
                <a:latin typeface="Inter" pitchFamily="34" charset="0"/>
                <a:ea typeface="Inter" pitchFamily="34" charset="-122"/>
                <a:cs typeface="Inter" pitchFamily="34" charset="-120"/>
              </a:rPr>
              <a:t>3</a:t>
            </a:r>
            <a:endParaRPr lang="en-US" sz="1200" dirty="0"/>
          </a:p>
        </p:txBody>
      </p:sp>
      <p:sp>
        <p:nvSpPr>
          <p:cNvPr id="16" name="Text 12"/>
          <p:cNvSpPr/>
          <p:nvPr/>
        </p:nvSpPr>
        <p:spPr>
          <a:xfrm>
            <a:off x="6587906" y="2955299"/>
            <a:ext cx="1876568"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F3D"/>
                </a:solidFill>
                <a:latin typeface="Inter" pitchFamily="34" charset="0"/>
                <a:ea typeface="Inter" pitchFamily="34" charset="-122"/>
                <a:cs typeface="Inter" pitchFamily="34" charset="-120"/>
              </a:rPr>
              <a:t>Check</a:t>
            </a:r>
            <a:endParaRPr lang="en-US" sz="1700" dirty="0"/>
          </a:p>
        </p:txBody>
      </p:sp>
      <p:sp>
        <p:nvSpPr>
          <p:cNvPr id="17" name="Text 13"/>
          <p:cNvSpPr/>
          <p:nvPr/>
        </p:nvSpPr>
        <p:spPr>
          <a:xfrm>
            <a:off x="6587906" y="3290571"/>
            <a:ext cx="1876568" cy="7185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Each criterion is marked fits, to confirm or does not fit.</a:t>
            </a:r>
            <a:endParaRPr lang="en-US" sz="1300" dirty="0"/>
          </a:p>
        </p:txBody>
      </p:sp>
      <p:pic>
        <p:nvPicPr>
          <p:cNvPr id="18" name="Image 2" descr="arrow-right">    </p:cNvPr>
          <p:cNvPicPr>
            <a:picLocks noChangeAspect="1"/>
          </p:cNvPicPr>
          <p:nvPr/>
        </p:nvPicPr>
        <p:blipFill>
          <a:blip r:embed="rId3"/>
          <a:srcRect l="0" r="0" t="-2" b="-2"/>
          <a:stretch/>
        </p:blipFill>
        <p:spPr>
          <a:xfrm>
            <a:off x="8719234" y="3197721"/>
            <a:ext cx="355585" cy="254000"/>
          </a:xfrm>
          <a:prstGeom prst="rect">
            <a:avLst/>
          </a:prstGeom>
        </p:spPr>
      </p:pic>
      <p:sp>
        <p:nvSpPr>
          <p:cNvPr id="19" name="Shape 14"/>
          <p:cNvSpPr/>
          <p:nvPr/>
        </p:nvSpPr>
        <p:spPr>
          <a:xfrm>
            <a:off x="9201819" y="2462591"/>
            <a:ext cx="2177423" cy="1724331"/>
          </a:xfrm>
          <a:prstGeom prst="roundRect">
            <a:avLst>
              <a:gd name="adj" fmla="val 7365"/>
            </a:avLst>
          </a:prstGeom>
          <a:solidFill>
            <a:srgbClr val="0F1F3D"/>
          </a:solidFill>
          <a:ln/>
        </p:spPr>
      </p:sp>
      <p:sp>
        <p:nvSpPr>
          <p:cNvPr id="20" name="Text 15"/>
          <p:cNvSpPr/>
          <p:nvPr/>
        </p:nvSpPr>
        <p:spPr>
          <a:xfrm>
            <a:off x="9379576" y="2665766"/>
            <a:ext cx="1876568" cy="23876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B020"/>
                </a:solidFill>
                <a:latin typeface="Inter" pitchFamily="34" charset="0"/>
                <a:ea typeface="Inter" pitchFamily="34" charset="-122"/>
                <a:cs typeface="Inter" pitchFamily="34" charset="-120"/>
              </a:rPr>
              <a:t>4</a:t>
            </a:r>
            <a:endParaRPr lang="en-US" sz="1200" dirty="0"/>
          </a:p>
        </p:txBody>
      </p:sp>
      <p:sp>
        <p:nvSpPr>
          <p:cNvPr id="21" name="Text 16"/>
          <p:cNvSpPr/>
          <p:nvPr/>
        </p:nvSpPr>
        <p:spPr>
          <a:xfrm>
            <a:off x="9379576" y="2955299"/>
            <a:ext cx="1876568" cy="28449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8FC"/>
                </a:solidFill>
                <a:latin typeface="Inter" pitchFamily="34" charset="0"/>
                <a:ea typeface="Inter" pitchFamily="34" charset="-122"/>
                <a:cs typeface="Inter" pitchFamily="34" charset="-120"/>
              </a:rPr>
              <a:t>Result</a:t>
            </a:r>
            <a:endParaRPr lang="en-US" sz="1700" dirty="0"/>
          </a:p>
        </p:txBody>
      </p:sp>
      <p:sp>
        <p:nvSpPr>
          <p:cNvPr id="22" name="Text 17"/>
          <p:cNvSpPr/>
          <p:nvPr/>
        </p:nvSpPr>
        <p:spPr>
          <a:xfrm>
            <a:off x="9379576" y="3290571"/>
            <a:ext cx="1876568" cy="7185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7D6F7"/>
                </a:solidFill>
                <a:latin typeface="Inter" pitchFamily="34" charset="0"/>
                <a:ea typeface="Inter" pitchFamily="34" charset="-122"/>
                <a:cs typeface="Inter" pitchFamily="34" charset="-120"/>
              </a:rPr>
              <a:t>Match, maybe or not a match, with the reasons.</a:t>
            </a:r>
            <a:endParaRPr lang="en-US" sz="1300" dirty="0"/>
          </a:p>
        </p:txBody>
      </p:sp>
      <p:sp>
        <p:nvSpPr>
          <p:cNvPr id="23" name="Text 18"/>
          <p:cNvSpPr/>
          <p:nvPr/>
        </p:nvSpPr>
        <p:spPr>
          <a:xfrm>
            <a:off x="815931" y="5052448"/>
            <a:ext cx="5187979" cy="786380"/>
          </a:xfrm>
          <a:prstGeom prst="roundRect">
            <a:avLst>
              <a:gd name="adj" fmla="val 12516"/>
            </a:avLst>
          </a:prstGeom>
          <a:solidFill>
            <a:srgbClr val="EEF3FF"/>
          </a:solidFill>
          <a:ln w="6350">
            <a:solidFill>
              <a:srgbClr val="C7D6F7"/>
            </a:solidFill>
            <a:prstDash val="solid"/>
          </a:ln>
        </p:spPr>
        <p:txBody>
          <a:bodyPr wrap="square" lIns="175829" tIns="125058" rIns="32469" bIns="99541" rtlCol="0" anchor="t">
            <a:normAutofit/>
          </a:bodyPr>
          <a:lstStyle/>
          <a:p>
            <a:pPr algn="l" indent="0" marL="0">
              <a:lnSpc>
                <a:spcPts val="1885"/>
              </a:lnSpc>
              <a:buNone/>
            </a:pPr>
            <a:r>
              <a:rPr lang="en-US" sz="1300" b="1" dirty="0">
                <a:solidFill>
                  <a:srgbClr val="0F1F3D"/>
                </a:solidFill>
                <a:latin typeface="Inter" pitchFamily="34" charset="0"/>
                <a:ea typeface="Inter" pitchFamily="34" charset="-122"/>
                <a:cs typeface="Inter" pitchFamily="34" charset="-120"/>
              </a:rPr>
              <a:t>Data source.</a:t>
            </a:r>
            <a:r>
              <a:rPr lang="en-US" sz="1300" dirty="0">
                <a:solidFill>
                  <a:srgbClr val="0F1F3D"/>
                </a:solidFill>
                <a:latin typeface="Inter" pitchFamily="34" charset="0"/>
                <a:ea typeface="Inter" pitchFamily="34" charset="-122"/>
                <a:cs typeface="Inter" pitchFamily="34" charset="-120"/>
              </a:rPr>
              <a:t> The Business Benefits Finder, an open dataset from the federal government.</a:t>
            </a:r>
            <a:endParaRPr lang="en-US" sz="1300" dirty="0"/>
          </a:p>
        </p:txBody>
      </p:sp>
      <p:sp>
        <p:nvSpPr>
          <p:cNvPr id="24" name="Text 19"/>
          <p:cNvSpPr/>
          <p:nvPr/>
        </p:nvSpPr>
        <p:spPr>
          <a:xfrm>
            <a:off x="6188016" y="5052448"/>
            <a:ext cx="5188052" cy="786380"/>
          </a:xfrm>
          <a:prstGeom prst="roundRect">
            <a:avLst>
              <a:gd name="adj" fmla="val 12516"/>
            </a:avLst>
          </a:prstGeom>
          <a:solidFill>
            <a:srgbClr val="EEF3FF"/>
          </a:solidFill>
          <a:ln w="6350">
            <a:solidFill>
              <a:srgbClr val="C7D6F7"/>
            </a:solidFill>
            <a:prstDash val="solid"/>
          </a:ln>
        </p:spPr>
        <p:txBody>
          <a:bodyPr wrap="square" lIns="175829" tIns="125058" rIns="32467" bIns="99541" rtlCol="0" anchor="t">
            <a:normAutofit/>
          </a:bodyPr>
          <a:lstStyle/>
          <a:p>
            <a:pPr algn="l" indent="0" marL="0">
              <a:lnSpc>
                <a:spcPts val="1885"/>
              </a:lnSpc>
              <a:buNone/>
            </a:pPr>
            <a:r>
              <a:rPr lang="en-US" sz="1300" b="1" dirty="0">
                <a:solidFill>
                  <a:srgbClr val="0F1F3D"/>
                </a:solidFill>
                <a:latin typeface="Inter" pitchFamily="34" charset="0"/>
                <a:ea typeface="Inter" pitchFamily="34" charset="-122"/>
                <a:cs typeface="Inter" pitchFamily="34" charset="-120"/>
              </a:rPr>
              <a:t>Quality limit.</a:t>
            </a:r>
            <a:r>
              <a:rPr lang="en-US" sz="1300" dirty="0">
                <a:solidFill>
                  <a:srgbClr val="0F1F3D"/>
                </a:solidFill>
                <a:latin typeface="Inter" pitchFamily="34" charset="0"/>
                <a:ea typeface="Inter" pitchFamily="34" charset="-122"/>
                <a:cs typeface="Inter" pitchFamily="34" charset="-120"/>
              </a:rPr>
              <a:t> Results are only as good as the rules entered and kept up to date.</a:t>
            </a:r>
            <a:endParaRPr lang="en-US" sz="1300" dirty="0"/>
          </a:p>
        </p:txBody>
      </p:sp>
      <p:sp>
        <p:nvSpPr>
          <p:cNvPr id="25" name="Text 20"/>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In the prototype the rules cover example programs. Loading and maintaining real rules is part of the next steps.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ENGINEERING</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What this project shows as software engineering</a:t>
            </a:r>
            <a:endParaRPr lang="en-US" sz="3200" dirty="0"/>
          </a:p>
        </p:txBody>
      </p:sp>
      <p:sp>
        <p:nvSpPr>
          <p:cNvPr id="4" name="Shape 2"/>
          <p:cNvSpPr/>
          <p:nvPr/>
        </p:nvSpPr>
        <p:spPr>
          <a:xfrm>
            <a:off x="815931" y="3007413"/>
            <a:ext cx="5187979" cy="1323654"/>
          </a:xfrm>
          <a:prstGeom prst="roundRect">
            <a:avLst>
              <a:gd name="adj" fmla="val 9355"/>
            </a:avLst>
          </a:prstGeom>
          <a:solidFill>
            <a:srgbClr val="FBFCFE"/>
          </a:solidFill>
          <a:ln w="6350">
            <a:solidFill>
              <a:srgbClr val="DCE3EE"/>
            </a:solidFill>
            <a:prstDash val="solid"/>
          </a:ln>
        </p:spPr>
      </p:sp>
      <p:sp>
        <p:nvSpPr>
          <p:cNvPr id="5" name="Text 3"/>
          <p:cNvSpPr/>
          <p:nvPr/>
        </p:nvSpPr>
        <p:spPr>
          <a:xfrm>
            <a:off x="1046002" y="3237483"/>
            <a:ext cx="4869672" cy="31493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F3D"/>
                </a:solidFill>
                <a:latin typeface="Inter" pitchFamily="34" charset="0"/>
                <a:ea typeface="Inter" pitchFamily="34" charset="-122"/>
                <a:cs typeface="Inter" pitchFamily="34" charset="-120"/>
              </a:rPr>
              <a:t>Data pipeline</a:t>
            </a:r>
            <a:endParaRPr lang="en-US" sz="1900" dirty="0"/>
          </a:p>
        </p:txBody>
      </p:sp>
      <p:sp>
        <p:nvSpPr>
          <p:cNvPr id="6" name="Text 4"/>
          <p:cNvSpPr/>
          <p:nvPr/>
        </p:nvSpPr>
        <p:spPr>
          <a:xfrm>
            <a:off x="1046002" y="3603191"/>
            <a:ext cx="4869672" cy="52320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Turn an open government spreadsheet into clean, structured program records.</a:t>
            </a:r>
            <a:endParaRPr lang="en-US" sz="1400" dirty="0"/>
          </a:p>
        </p:txBody>
      </p:sp>
      <p:sp>
        <p:nvSpPr>
          <p:cNvPr id="7" name="Shape 5"/>
          <p:cNvSpPr/>
          <p:nvPr/>
        </p:nvSpPr>
        <p:spPr>
          <a:xfrm>
            <a:off x="6188016" y="3007413"/>
            <a:ext cx="5188052" cy="1323654"/>
          </a:xfrm>
          <a:prstGeom prst="roundRect">
            <a:avLst>
              <a:gd name="adj" fmla="val 9355"/>
            </a:avLst>
          </a:prstGeom>
          <a:solidFill>
            <a:srgbClr val="FBFCFE"/>
          </a:solidFill>
          <a:ln w="6350">
            <a:solidFill>
              <a:srgbClr val="DCE3EE"/>
            </a:solidFill>
            <a:prstDash val="solid"/>
          </a:ln>
        </p:spPr>
      </p:sp>
      <p:sp>
        <p:nvSpPr>
          <p:cNvPr id="8" name="Text 6"/>
          <p:cNvSpPr/>
          <p:nvPr/>
        </p:nvSpPr>
        <p:spPr>
          <a:xfrm>
            <a:off x="6418087" y="3237483"/>
            <a:ext cx="4869747" cy="31493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F3D"/>
                </a:solidFill>
                <a:latin typeface="Inter" pitchFamily="34" charset="0"/>
                <a:ea typeface="Inter" pitchFamily="34" charset="-122"/>
                <a:cs typeface="Inter" pitchFamily="34" charset="-120"/>
              </a:rPr>
              <a:t>Rule engine</a:t>
            </a:r>
            <a:endParaRPr lang="en-US" sz="1900" dirty="0"/>
          </a:p>
        </p:txBody>
      </p:sp>
      <p:sp>
        <p:nvSpPr>
          <p:cNvPr id="9" name="Text 7"/>
          <p:cNvSpPr/>
          <p:nvPr/>
        </p:nvSpPr>
        <p:spPr>
          <a:xfrm>
            <a:off x="6418087" y="3603191"/>
            <a:ext cx="4869747" cy="52320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Programs as data, rules as code. Small testable functions and results that explain themselves.</a:t>
            </a:r>
            <a:endParaRPr lang="en-US" sz="1400" dirty="0"/>
          </a:p>
        </p:txBody>
      </p:sp>
      <p:sp>
        <p:nvSpPr>
          <p:cNvPr id="10" name="Shape 8"/>
          <p:cNvSpPr/>
          <p:nvPr/>
        </p:nvSpPr>
        <p:spPr>
          <a:xfrm>
            <a:off x="815931" y="4515172"/>
            <a:ext cx="5187979" cy="1323654"/>
          </a:xfrm>
          <a:prstGeom prst="roundRect">
            <a:avLst>
              <a:gd name="adj" fmla="val 9355"/>
            </a:avLst>
          </a:prstGeom>
          <a:solidFill>
            <a:srgbClr val="FBFCFE"/>
          </a:solidFill>
          <a:ln w="6350">
            <a:solidFill>
              <a:srgbClr val="DCE3EE"/>
            </a:solidFill>
            <a:prstDash val="solid"/>
          </a:ln>
        </p:spPr>
      </p:sp>
      <p:sp>
        <p:nvSpPr>
          <p:cNvPr id="11" name="Text 9"/>
          <p:cNvSpPr/>
          <p:nvPr/>
        </p:nvSpPr>
        <p:spPr>
          <a:xfrm>
            <a:off x="1046002" y="4745242"/>
            <a:ext cx="4869672" cy="31493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F3D"/>
                </a:solidFill>
                <a:latin typeface="Inter" pitchFamily="34" charset="0"/>
                <a:ea typeface="Inter" pitchFamily="34" charset="-122"/>
                <a:cs typeface="Inter" pitchFamily="34" charset="-120"/>
              </a:rPr>
              <a:t>Product and UX</a:t>
            </a:r>
            <a:endParaRPr lang="en-US" sz="1900" dirty="0"/>
          </a:p>
        </p:txBody>
      </p:sp>
      <p:sp>
        <p:nvSpPr>
          <p:cNvPr id="12" name="Text 10"/>
          <p:cNvSpPr/>
          <p:nvPr/>
        </p:nvSpPr>
        <p:spPr>
          <a:xfrm>
            <a:off x="1046002" y="5110950"/>
            <a:ext cx="4869672" cy="52320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User flows, a bilingual interface, accessibility and privacy by design.</a:t>
            </a:r>
            <a:endParaRPr lang="en-US" sz="1400" dirty="0"/>
          </a:p>
        </p:txBody>
      </p:sp>
      <p:sp>
        <p:nvSpPr>
          <p:cNvPr id="13" name="Shape 11"/>
          <p:cNvSpPr/>
          <p:nvPr/>
        </p:nvSpPr>
        <p:spPr>
          <a:xfrm>
            <a:off x="6184841" y="4511997"/>
            <a:ext cx="5194402" cy="1330004"/>
          </a:xfrm>
          <a:prstGeom prst="roundRect">
            <a:avLst>
              <a:gd name="adj" fmla="val 9549"/>
            </a:avLst>
          </a:prstGeom>
          <a:solidFill>
            <a:srgbClr val="0F1F3D"/>
          </a:solidFill>
          <a:ln/>
        </p:spPr>
      </p:sp>
      <p:sp>
        <p:nvSpPr>
          <p:cNvPr id="14" name="Text 12"/>
          <p:cNvSpPr/>
          <p:nvPr/>
        </p:nvSpPr>
        <p:spPr>
          <a:xfrm>
            <a:off x="6413427" y="4740579"/>
            <a:ext cx="4879348" cy="31493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FB020"/>
                </a:solidFill>
                <a:latin typeface="Inter" pitchFamily="34" charset="0"/>
                <a:ea typeface="Inter" pitchFamily="34" charset="-122"/>
                <a:cs typeface="Inter" pitchFamily="34" charset="-120"/>
              </a:rPr>
              <a:t>Delivery</a:t>
            </a:r>
            <a:endParaRPr lang="en-US" sz="1900" dirty="0"/>
          </a:p>
        </p:txBody>
      </p:sp>
      <p:sp>
        <p:nvSpPr>
          <p:cNvPr id="15" name="Text 13"/>
          <p:cNvSpPr/>
          <p:nvPr/>
        </p:nvSpPr>
        <p:spPr>
          <a:xfrm>
            <a:off x="6413427" y="5106287"/>
            <a:ext cx="4879348" cy="27430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6F7"/>
                </a:solidFill>
                <a:latin typeface="Inter" pitchFamily="34" charset="0"/>
                <a:ea typeface="Inter" pitchFamily="34" charset="-122"/>
                <a:cs typeface="Inter" pitchFamily="34" charset="-120"/>
              </a:rPr>
              <a:t>Version control, documentation and a deployed demo.</a:t>
            </a:r>
            <a:endParaRPr lang="en-US" sz="1400" dirty="0"/>
          </a:p>
        </p:txBody>
      </p:sp>
      <p:sp>
        <p:nvSpPr>
          <p:cNvPr id="16" name="Text 1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Planned stack: [add your choice 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DESIGN · HOME</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The promise in one screen</a:t>
            </a:r>
            <a:endParaRPr lang="en-US" sz="3200" dirty="0"/>
          </a:p>
        </p:txBody>
      </p:sp>
      <p:pic>
        <p:nvPicPr>
          <p:cNvPr id="4" name="Image 0" descr="Home page: headline 'Funding and subsidies for Canadian SMEs, made simple', two buttons, and a sample PDF report card">    </p:cNvPr>
          <p:cNvPicPr>
            <a:picLocks noChangeAspect="1"/>
          </p:cNvPicPr>
          <p:nvPr/>
        </p:nvPicPr>
        <p:blipFill>
          <a:blip r:embed="rId1"/>
          <a:srcRect l="0" r="0" t="75" b="75"/>
          <a:stretch/>
        </p:blipFill>
        <p:spPr>
          <a:xfrm>
            <a:off x="819106" y="2133600"/>
            <a:ext cx="6591299" cy="3702050"/>
          </a:xfrm>
          <a:prstGeom prst="roundRect">
            <a:avLst>
              <a:gd name="adj" fmla="val 2573"/>
            </a:avLst>
          </a:prstGeom>
        </p:spPr>
      </p:pic>
      <p:sp>
        <p:nvSpPr>
          <p:cNvPr id="5" name="Shape 2"/>
          <p:cNvSpPr/>
          <p:nvPr/>
        </p:nvSpPr>
        <p:spPr>
          <a:xfrm>
            <a:off x="815931" y="2130425"/>
            <a:ext cx="6597649" cy="3708400"/>
          </a:xfrm>
          <a:prstGeom prst="roundRect">
            <a:avLst>
              <a:gd name="adj" fmla="val 2654"/>
            </a:avLst>
          </a:prstGeom>
          <a:noFill/>
          <a:ln w="6350">
            <a:solidFill>
              <a:srgbClr val="DCE3EE"/>
            </a:solidFill>
            <a:prstDash val="solid"/>
          </a:ln>
        </p:spPr>
      </p:sp>
      <p:sp>
        <p:nvSpPr>
          <p:cNvPr id="6" name="Text 3"/>
          <p:cNvSpPr/>
          <p:nvPr/>
        </p:nvSpPr>
        <p:spPr>
          <a:xfrm>
            <a:off x="7806094" y="3211264"/>
            <a:ext cx="3675261" cy="157212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A plain promise: funding and subsidies for Canadian SMEs, made simple.</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Two clear paths: browse with filters, or be guided.</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A sample report shows what the user gets.</a:t>
            </a:r>
            <a:endParaRPr lang="en-US" sz="1400" dirty="0"/>
          </a:p>
        </p:txBody>
      </p:sp>
      <p:sp>
        <p:nvSpPr>
          <p:cNvPr id="7" name="Text 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Prototype screen with example data.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DESIGN · SEARCH BY FILTERS</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A directory you can narrow down</a:t>
            </a:r>
            <a:endParaRPr lang="en-US" sz="3200" dirty="0"/>
          </a:p>
        </p:txBody>
      </p:sp>
      <p:pic>
        <p:nvPicPr>
          <p:cNvPr id="4" name="Image 0" descr="Program directory with a filter panel on the left and a grid of program cards">    </p:cNvPr>
          <p:cNvPicPr>
            <a:picLocks noChangeAspect="1"/>
          </p:cNvPicPr>
          <p:nvPr/>
        </p:nvPicPr>
        <p:blipFill>
          <a:blip r:embed="rId1"/>
          <a:srcRect l="0" r="0" t="75" b="75"/>
          <a:stretch/>
        </p:blipFill>
        <p:spPr>
          <a:xfrm>
            <a:off x="819106" y="2133600"/>
            <a:ext cx="6591299" cy="3702050"/>
          </a:xfrm>
          <a:prstGeom prst="roundRect">
            <a:avLst>
              <a:gd name="adj" fmla="val 2573"/>
            </a:avLst>
          </a:prstGeom>
        </p:spPr>
      </p:pic>
      <p:sp>
        <p:nvSpPr>
          <p:cNvPr id="5" name="Shape 2"/>
          <p:cNvSpPr/>
          <p:nvPr/>
        </p:nvSpPr>
        <p:spPr>
          <a:xfrm>
            <a:off x="815931" y="2130425"/>
            <a:ext cx="6597649" cy="3708400"/>
          </a:xfrm>
          <a:prstGeom prst="roundRect">
            <a:avLst>
              <a:gd name="adj" fmla="val 2654"/>
            </a:avLst>
          </a:prstGeom>
          <a:noFill/>
          <a:ln w="6350">
            <a:solidFill>
              <a:srgbClr val="DCE3EE"/>
            </a:solidFill>
            <a:prstDash val="solid"/>
          </a:ln>
        </p:spPr>
      </p:sp>
      <p:sp>
        <p:nvSpPr>
          <p:cNvPr id="6" name="Text 3"/>
          <p:cNvSpPr/>
          <p:nvPr/>
        </p:nvSpPr>
        <p:spPr>
          <a:xfrm>
            <a:off x="7806094" y="3340156"/>
            <a:ext cx="3675261" cy="1314333"/>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Filters by provider, type of support, goal, sector, province, size and more.</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Each card shows the provider, type, amount and region.</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One click saves a program to My list.</a:t>
            </a:r>
            <a:endParaRPr lang="en-US" sz="1400" dirty="0"/>
          </a:p>
        </p:txBody>
      </p:sp>
      <p:sp>
        <p:nvSpPr>
          <p:cNvPr id="7" name="Text 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Prototype screen with example data.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DESIGN · FIND MY SUPPORT</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Guided matching, with the reasons shown</a:t>
            </a:r>
            <a:endParaRPr lang="en-US" sz="3200" dirty="0"/>
          </a:p>
        </p:txBody>
      </p:sp>
      <p:pic>
        <p:nvPicPr>
          <p:cNvPr id="4" name="Image 0" descr="Results screen: the user's five answers, then programs that match the published criteria, each with a list of reasons">    </p:cNvPr>
          <p:cNvPicPr>
            <a:picLocks noChangeAspect="1"/>
          </p:cNvPicPr>
          <p:nvPr/>
        </p:nvPicPr>
        <p:blipFill>
          <a:blip r:embed="rId1"/>
          <a:srcRect l="0" r="0" t="75" b="75"/>
          <a:stretch/>
        </p:blipFill>
        <p:spPr>
          <a:xfrm>
            <a:off x="819106" y="2133600"/>
            <a:ext cx="6591299" cy="3702050"/>
          </a:xfrm>
          <a:prstGeom prst="roundRect">
            <a:avLst>
              <a:gd name="adj" fmla="val 2573"/>
            </a:avLst>
          </a:prstGeom>
        </p:spPr>
      </p:pic>
      <p:sp>
        <p:nvSpPr>
          <p:cNvPr id="5" name="Shape 2"/>
          <p:cNvSpPr/>
          <p:nvPr/>
        </p:nvSpPr>
        <p:spPr>
          <a:xfrm>
            <a:off x="815931" y="2130425"/>
            <a:ext cx="6597649" cy="3708400"/>
          </a:xfrm>
          <a:prstGeom prst="roundRect">
            <a:avLst>
              <a:gd name="adj" fmla="val 2654"/>
            </a:avLst>
          </a:prstGeom>
          <a:noFill/>
          <a:ln w="6350">
            <a:solidFill>
              <a:srgbClr val="DCE3EE"/>
            </a:solidFill>
            <a:prstDash val="solid"/>
          </a:ln>
        </p:spPr>
      </p:sp>
      <p:sp>
        <p:nvSpPr>
          <p:cNvPr id="6" name="Text 3"/>
          <p:cNvSpPr/>
          <p:nvPr/>
        </p:nvSpPr>
        <p:spPr>
          <a:xfrm>
            <a:off x="7806094" y="3211264"/>
            <a:ext cx="3675261" cy="157212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Five questions, about two minutes, no account needed.</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Programs grouped as match, maybe, and probably not.</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Each card lists what fits and what to confirm.</a:t>
            </a:r>
            <a:endParaRPr lang="en-US" sz="1400" dirty="0"/>
          </a:p>
        </p:txBody>
      </p:sp>
      <p:sp>
        <p:nvSpPr>
          <p:cNvPr id="7" name="Text 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Prototype screen with example programs and simplified rules. Not eligibility advice.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DESIGN · LANGUAGE AND PRIVACY</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Bilingual and privacy-aware from the start</a:t>
            </a:r>
            <a:endParaRPr lang="en-US" sz="3200" dirty="0"/>
          </a:p>
        </p:txBody>
      </p:sp>
      <p:pic>
        <p:nvPicPr>
          <p:cNvPr id="4" name="Image 0" descr="The French version of the home page, in Québec French">    </p:cNvPr>
          <p:cNvPicPr>
            <a:picLocks noChangeAspect="1"/>
          </p:cNvPicPr>
          <p:nvPr/>
        </p:nvPicPr>
        <p:blipFill>
          <a:blip r:embed="rId1"/>
          <a:srcRect l="0" r="0" t="75" b="75"/>
          <a:stretch/>
        </p:blipFill>
        <p:spPr>
          <a:xfrm>
            <a:off x="819106" y="2133600"/>
            <a:ext cx="6591299" cy="3702050"/>
          </a:xfrm>
          <a:prstGeom prst="roundRect">
            <a:avLst>
              <a:gd name="adj" fmla="val 2573"/>
            </a:avLst>
          </a:prstGeom>
        </p:spPr>
      </p:pic>
      <p:sp>
        <p:nvSpPr>
          <p:cNvPr id="5" name="Shape 2"/>
          <p:cNvSpPr/>
          <p:nvPr/>
        </p:nvSpPr>
        <p:spPr>
          <a:xfrm>
            <a:off x="815931" y="2130425"/>
            <a:ext cx="6597649" cy="3708400"/>
          </a:xfrm>
          <a:prstGeom prst="roundRect">
            <a:avLst>
              <a:gd name="adj" fmla="val 2654"/>
            </a:avLst>
          </a:prstGeom>
          <a:noFill/>
          <a:ln w="6350">
            <a:solidFill>
              <a:srgbClr val="DCE3EE"/>
            </a:solidFill>
            <a:prstDash val="solid"/>
          </a:ln>
        </p:spPr>
      </p:sp>
      <p:sp>
        <p:nvSpPr>
          <p:cNvPr id="6" name="Text 3"/>
          <p:cNvSpPr/>
          <p:nvPr/>
        </p:nvSpPr>
        <p:spPr>
          <a:xfrm>
            <a:off x="7806094" y="3082373"/>
            <a:ext cx="3675261" cy="1829907"/>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Every screen exists in English (Canada) and French (Québec).</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On French pages the descriptive part of the name is in French.</a:t>
            </a:r>
            <a:endParaRPr lang="en-US" sz="1400" dirty="0"/>
          </a:p>
          <a:p>
            <a:pPr algn="l" marL="169418" indent="-169418">
              <a:lnSpc>
                <a:spcPts val="2030"/>
              </a:lnSpc>
              <a:buSzPct val="100000"/>
              <a:buChar char="•"/>
            </a:pPr>
            <a:r>
              <a:rPr lang="en-US" sz="1400" dirty="0">
                <a:solidFill>
                  <a:srgbClr val="0F1F3D"/>
                </a:solidFill>
                <a:latin typeface="Inter" pitchFamily="34" charset="0"/>
                <a:ea typeface="Inter" pitchFamily="34" charset="-122"/>
                <a:cs typeface="Inter" pitchFamily="34" charset="-120"/>
              </a:rPr>
              <a:t>Consent at sign-up, a plain-language privacy notice, and a way to delete everything.</a:t>
            </a:r>
            <a:endParaRPr lang="en-US" sz="1400" dirty="0"/>
          </a:p>
        </p:txBody>
      </p:sp>
      <p:sp>
        <p:nvSpPr>
          <p:cNvPr id="7" name="Text 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Designed with PIPEDA, Québec’s Law 25 and the Charter of the French Language in mind. Needs legal review before launch.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020"/>
                </a:solidFill>
                <a:latin typeface="Inter" pitchFamily="34" charset="0"/>
                <a:ea typeface="Inter" pitchFamily="34" charset="-122"/>
                <a:cs typeface="Inter" pitchFamily="34" charset="-120"/>
              </a:rPr>
              <a:t>NAME AND SYMBOL</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6F8FC"/>
                </a:solidFill>
                <a:latin typeface="Inter" pitchFamily="34" charset="0"/>
                <a:ea typeface="Inter" pitchFamily="34" charset="-122"/>
                <a:cs typeface="Inter" pitchFamily="34" charset="-120"/>
              </a:rPr>
              <a:t>Maple Seed Funding Guide</a:t>
            </a:r>
            <a:endParaRPr lang="en-US" sz="3200" dirty="0"/>
          </a:p>
        </p:txBody>
      </p:sp>
      <p:pic>
        <p:nvPicPr>
          <p:cNvPr id="4" name="Image 0" descr="Logo: two white maple seed wings joined at an amber seed on a navy tile">    </p:cNvPr>
          <p:cNvPicPr>
            <a:picLocks noChangeAspect="1"/>
          </p:cNvPicPr>
          <p:nvPr/>
        </p:nvPicPr>
        <p:blipFill>
          <a:blip r:embed="rId1"/>
          <a:srcRect l="0" r="0" t="0" b="0"/>
          <a:stretch/>
        </p:blipFill>
        <p:spPr>
          <a:xfrm>
            <a:off x="812756" y="3048000"/>
            <a:ext cx="2794000" cy="2794000"/>
          </a:xfrm>
          <a:prstGeom prst="rect">
            <a:avLst/>
          </a:prstGeom>
        </p:spPr>
      </p:pic>
      <p:sp>
        <p:nvSpPr>
          <p:cNvPr id="5" name="Text 2"/>
          <p:cNvSpPr/>
          <p:nvPr/>
        </p:nvSpPr>
        <p:spPr>
          <a:xfrm>
            <a:off x="4185114" y="3561314"/>
            <a:ext cx="7404443" cy="1792768"/>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b="1" dirty="0">
                <a:solidFill>
                  <a:srgbClr val="F6F8FC"/>
                </a:solidFill>
                <a:latin typeface="Inter" pitchFamily="34" charset="0"/>
                <a:ea typeface="Inter" pitchFamily="34" charset="-122"/>
                <a:cs typeface="Inter" pitchFamily="34" charset="-120"/>
              </a:rPr>
              <a:t>Maple</a:t>
            </a:r>
            <a:r>
              <a:rPr lang="en-US" sz="1600" dirty="0">
                <a:solidFill>
                  <a:srgbClr val="C7D6F7"/>
                </a:solidFill>
                <a:latin typeface="Inter" pitchFamily="34" charset="0"/>
                <a:ea typeface="Inter" pitchFamily="34" charset="-122"/>
                <a:cs typeface="Inter" pitchFamily="34" charset="-120"/>
              </a:rPr>
              <a:t> says Canadian. </a:t>
            </a:r>
            <a:r>
              <a:rPr lang="en-US" sz="1600" b="1" dirty="0">
                <a:solidFill>
                  <a:srgbClr val="F6F8FC"/>
                </a:solidFill>
                <a:latin typeface="Inter" pitchFamily="34" charset="0"/>
                <a:ea typeface="Inter" pitchFamily="34" charset="-122"/>
                <a:cs typeface="Inter" pitchFamily="34" charset="-120"/>
              </a:rPr>
              <a:t>Seed</a:t>
            </a:r>
            <a:r>
              <a:rPr lang="en-US" sz="1600" dirty="0">
                <a:solidFill>
                  <a:srgbClr val="C7D6F7"/>
                </a:solidFill>
                <a:latin typeface="Inter" pitchFamily="34" charset="0"/>
                <a:ea typeface="Inter" pitchFamily="34" charset="-122"/>
                <a:cs typeface="Inter" pitchFamily="34" charset="-120"/>
              </a:rPr>
              <a:t> says a small start that can grow.</a:t>
            </a:r>
            <a:endParaRPr lang="en-US" sz="1600" dirty="0"/>
          </a:p>
          <a:p>
            <a:pPr algn="l" marL="183642" indent="-183642">
              <a:lnSpc>
                <a:spcPts val="2320"/>
              </a:lnSpc>
              <a:buSzPct val="100000"/>
              <a:buChar char="•"/>
            </a:pPr>
            <a:r>
              <a:rPr lang="en-US" sz="1600" dirty="0">
                <a:solidFill>
                  <a:srgbClr val="C7D6F7"/>
                </a:solidFill>
                <a:latin typeface="Inter" pitchFamily="34" charset="0"/>
                <a:ea typeface="Inter" pitchFamily="34" charset="-122"/>
                <a:cs typeface="Inter" pitchFamily="34" charset="-120"/>
              </a:rPr>
              <a:t>The symbol is a pair of maple seed wings joined at one seed: businesses and programs meeting at a match.</a:t>
            </a:r>
            <a:endParaRPr lang="en-US" sz="1600" dirty="0"/>
          </a:p>
          <a:p>
            <a:pPr algn="l" marL="183642" indent="-183642">
              <a:lnSpc>
                <a:spcPts val="2320"/>
              </a:lnSpc>
              <a:buSzPct val="100000"/>
              <a:buChar char="•"/>
            </a:pPr>
            <a:r>
              <a:rPr lang="en-US" sz="1600" dirty="0">
                <a:solidFill>
                  <a:srgbClr val="C7D6F7"/>
                </a:solidFill>
                <a:latin typeface="Inter" pitchFamily="34" charset="0"/>
                <a:ea typeface="Inter" pitchFamily="34" charset="-122"/>
                <a:cs typeface="Inter" pitchFamily="34" charset="-120"/>
              </a:rPr>
              <a:t>It is Canadian without the flag’s maple leaf, which is an official national symbol.</a:t>
            </a:r>
            <a:endParaRPr lang="en-US" sz="1600" dirty="0"/>
          </a:p>
          <a:p>
            <a:pPr algn="l" marL="183642" indent="-183642">
              <a:lnSpc>
                <a:spcPts val="2320"/>
              </a:lnSpc>
              <a:buSzPct val="100000"/>
              <a:buChar char="•"/>
            </a:pPr>
            <a:r>
              <a:rPr lang="en-US" sz="1600" dirty="0">
                <a:solidFill>
                  <a:srgbClr val="C7D6F7"/>
                </a:solidFill>
                <a:latin typeface="Inter" pitchFamily="34" charset="0"/>
                <a:ea typeface="Inter" pitchFamily="34" charset="-122"/>
                <a:cs typeface="Inter" pitchFamily="34" charset="-120"/>
              </a:rPr>
              <a:t>“Funding guide” says what the site is, without promising money.</a:t>
            </a:r>
            <a:endParaRPr lang="en-US" sz="1600" dirty="0"/>
          </a:p>
        </p:txBody>
      </p:sp>
      <p:sp>
        <p:nvSpPr>
          <p:cNvPr id="6" name="Text 3"/>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6F7"/>
                </a:solidFill>
                <a:latin typeface="Inter" pitchFamily="34" charset="0"/>
                <a:ea typeface="Inter" pitchFamily="34" charset="-122"/>
                <a:cs typeface="Inter" pitchFamily="34" charset="-120"/>
              </a:rPr>
              <a:t>Availability of the name, domain and logo is not yet verified. A brand and logo record documents the full reasoning.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57"/>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HOW WE CHOSE IT</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Eleven rounds of ideas, one symbol</a:t>
            </a:r>
            <a:endParaRPr lang="en-US" sz="3200" dirty="0"/>
          </a:p>
        </p:txBody>
      </p:sp>
      <p:sp>
        <p:nvSpPr>
          <p:cNvPr id="4" name="Shape 2"/>
          <p:cNvSpPr/>
          <p:nvPr/>
        </p:nvSpPr>
        <p:spPr>
          <a:xfrm>
            <a:off x="812756" y="2400331"/>
            <a:ext cx="9905999" cy="3441671"/>
          </a:xfrm>
          <a:prstGeom prst="roundRect">
            <a:avLst>
              <a:gd name="adj" fmla="val 2952"/>
            </a:avLst>
          </a:prstGeom>
          <a:solidFill>
            <a:srgbClr val="F6F8FC"/>
          </a:solidFill>
          <a:ln/>
        </p:spPr>
      </p:sp>
      <p:pic>
        <p:nvPicPr>
          <p:cNvPr id="5" name="Image 0" descr="Twelve of the logo options explored: compass, graph, weave, magnifier, lantern, untangle, trellis, bloom, leaf, watering can, maple seed pair and single maple wing">    </p:cNvPr>
          <p:cNvPicPr>
            <a:picLocks noChangeAspect="1"/>
          </p:cNvPicPr>
          <p:nvPr/>
        </p:nvPicPr>
        <p:blipFill>
          <a:blip r:embed="rId1"/>
          <a:srcRect l="-12" r="-12" t="0" b="0"/>
          <a:stretch/>
        </p:blipFill>
        <p:spPr>
          <a:xfrm>
            <a:off x="812756" y="2400331"/>
            <a:ext cx="9905999" cy="3441671"/>
          </a:xfrm>
          <a:prstGeom prst="roundRect">
            <a:avLst>
              <a:gd name="adj" fmla="val 2952"/>
            </a:avLst>
          </a:prstGeom>
        </p:spPr>
      </p:pic>
      <p:sp>
        <p:nvSpPr>
          <p:cNvPr id="6" name="Text 3"/>
          <p:cNvSpPr/>
          <p:nvPr/>
        </p:nvSpPr>
        <p:spPr>
          <a:xfrm>
            <a:off x="812756" y="6238286"/>
            <a:ext cx="11379244"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Paths, graphs, handshakes, magnifiers, lanterns, clarity, plants and a Canadian leaf came first. The maple seed pair won on clarity and meaning.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63"/>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NEXT STEPS</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From design prototype to a working portfolio project</a:t>
            </a:r>
            <a:endParaRPr lang="en-US" sz="3200" dirty="0"/>
          </a:p>
        </p:txBody>
      </p:sp>
      <p:sp>
        <p:nvSpPr>
          <p:cNvPr id="4" name="Shape 2"/>
          <p:cNvSpPr/>
          <p:nvPr/>
        </p:nvSpPr>
        <p:spPr>
          <a:xfrm>
            <a:off x="815931" y="3382082"/>
            <a:ext cx="3400366" cy="2456751"/>
          </a:xfrm>
          <a:prstGeom prst="roundRect">
            <a:avLst>
              <a:gd name="adj" fmla="val 6074"/>
            </a:avLst>
          </a:prstGeom>
          <a:solidFill>
            <a:srgbClr val="E6F6EF"/>
          </a:solidFill>
          <a:ln w="6350">
            <a:solidFill>
              <a:srgbClr val="BFE6D4"/>
            </a:solidFill>
            <a:prstDash val="solid"/>
          </a:ln>
        </p:spPr>
      </p:sp>
      <p:sp>
        <p:nvSpPr>
          <p:cNvPr id="5" name="Text 3"/>
          <p:cNvSpPr/>
          <p:nvPr/>
        </p:nvSpPr>
        <p:spPr>
          <a:xfrm>
            <a:off x="1046002" y="3612145"/>
            <a:ext cx="3028431" cy="29964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54"/>
                </a:solidFill>
                <a:latin typeface="Inter" pitchFamily="34" charset="0"/>
                <a:ea typeface="Inter" pitchFamily="34" charset="-122"/>
                <a:cs typeface="Inter" pitchFamily="34" charset="-120"/>
              </a:rPr>
              <a:t>Done</a:t>
            </a:r>
            <a:endParaRPr lang="en-US" sz="1800" dirty="0"/>
          </a:p>
        </p:txBody>
      </p:sp>
      <p:sp>
        <p:nvSpPr>
          <p:cNvPr id="6" name="Text 4"/>
          <p:cNvSpPr/>
          <p:nvPr/>
        </p:nvSpPr>
        <p:spPr>
          <a:xfrm>
            <a:off x="1144046" y="4000649"/>
            <a:ext cx="2922767" cy="949645"/>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Screens in English and French</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Guided matching prototype</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Brand and logo record</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Legal and privacy checklist</a:t>
            </a:r>
            <a:endParaRPr lang="en-US" sz="1300" dirty="0"/>
          </a:p>
        </p:txBody>
      </p:sp>
      <p:sp>
        <p:nvSpPr>
          <p:cNvPr id="7" name="Shape 5"/>
          <p:cNvSpPr/>
          <p:nvPr/>
        </p:nvSpPr>
        <p:spPr>
          <a:xfrm>
            <a:off x="4397229" y="3378907"/>
            <a:ext cx="3397468" cy="2463101"/>
          </a:xfrm>
          <a:prstGeom prst="roundRect">
            <a:avLst>
              <a:gd name="adj" fmla="val 6187"/>
            </a:avLst>
          </a:prstGeom>
          <a:solidFill>
            <a:srgbClr val="0F1F3D"/>
          </a:solidFill>
          <a:ln/>
        </p:spPr>
      </p:sp>
      <p:sp>
        <p:nvSpPr>
          <p:cNvPr id="8" name="Text 6"/>
          <p:cNvSpPr/>
          <p:nvPr/>
        </p:nvSpPr>
        <p:spPr>
          <a:xfrm>
            <a:off x="4625815" y="3607482"/>
            <a:ext cx="3028506" cy="29964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B020"/>
                </a:solidFill>
                <a:latin typeface="Inter" pitchFamily="34" charset="0"/>
                <a:ea typeface="Inter" pitchFamily="34" charset="-122"/>
                <a:cs typeface="Inter" pitchFamily="34" charset="-120"/>
              </a:rPr>
              <a:t>Next: build the MVP</a:t>
            </a:r>
            <a:endParaRPr lang="en-US" sz="1800" dirty="0"/>
          </a:p>
        </p:txBody>
      </p:sp>
      <p:sp>
        <p:nvSpPr>
          <p:cNvPr id="9" name="Text 7"/>
          <p:cNvSpPr/>
          <p:nvPr/>
        </p:nvSpPr>
        <p:spPr>
          <a:xfrm>
            <a:off x="4723859" y="3995986"/>
            <a:ext cx="2922842" cy="1642829"/>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6F8FC"/>
                </a:solidFill>
                <a:latin typeface="Inter" pitchFamily="34" charset="0"/>
                <a:ea typeface="Inter" pitchFamily="34" charset="-122"/>
                <a:cs typeface="Inter" pitchFamily="34" charset="-120"/>
              </a:rPr>
              <a:t>Import program data from the Business Benefits Finder file</a:t>
            </a:r>
            <a:endParaRPr lang="en-US" sz="1300" dirty="0"/>
          </a:p>
          <a:p>
            <a:pPr algn="l" marL="155956" indent="-155956">
              <a:lnSpc>
                <a:spcPts val="1820"/>
              </a:lnSpc>
              <a:buSzPct val="100000"/>
              <a:buChar char="•"/>
            </a:pPr>
            <a:r>
              <a:rPr lang="en-US" sz="1300" dirty="0">
                <a:solidFill>
                  <a:srgbClr val="F6F8FC"/>
                </a:solidFill>
                <a:latin typeface="Inter" pitchFamily="34" charset="0"/>
                <a:ea typeface="Inter" pitchFamily="34" charset="-122"/>
                <a:cs typeface="Inter" pitchFamily="34" charset="-120"/>
              </a:rPr>
              <a:t>Write rules for a first set of programs</a:t>
            </a:r>
            <a:endParaRPr lang="en-US" sz="1300" dirty="0"/>
          </a:p>
          <a:p>
            <a:pPr algn="l" marL="155956" indent="-155956">
              <a:lnSpc>
                <a:spcPts val="1820"/>
              </a:lnSpc>
              <a:buSzPct val="100000"/>
              <a:buChar char="•"/>
            </a:pPr>
            <a:r>
              <a:rPr lang="en-US" sz="1300" dirty="0">
                <a:solidFill>
                  <a:srgbClr val="F6F8FC"/>
                </a:solidFill>
                <a:latin typeface="Inter" pitchFamily="34" charset="0"/>
                <a:ea typeface="Inter" pitchFamily="34" charset="-122"/>
                <a:cs typeface="Inter" pitchFamily="34" charset="-120"/>
              </a:rPr>
              <a:t>Build the matching engine with unit tests</a:t>
            </a:r>
            <a:endParaRPr lang="en-US" sz="1300" dirty="0"/>
          </a:p>
          <a:p>
            <a:pPr algn="l" marL="155956" indent="-155956">
              <a:lnSpc>
                <a:spcPts val="1820"/>
              </a:lnSpc>
              <a:buSzPct val="100000"/>
              <a:buChar char="•"/>
            </a:pPr>
            <a:r>
              <a:rPr lang="en-US" sz="1300" dirty="0">
                <a:solidFill>
                  <a:srgbClr val="F6F8FC"/>
                </a:solidFill>
                <a:latin typeface="Inter" pitchFamily="34" charset="0"/>
                <a:ea typeface="Inter" pitchFamily="34" charset="-122"/>
                <a:cs typeface="Inter" pitchFamily="34" charset="-120"/>
              </a:rPr>
              <a:t>Saved list and PDF report</a:t>
            </a:r>
            <a:endParaRPr lang="en-US" sz="1300" dirty="0"/>
          </a:p>
        </p:txBody>
      </p:sp>
      <p:sp>
        <p:nvSpPr>
          <p:cNvPr id="10" name="Shape 8"/>
          <p:cNvSpPr/>
          <p:nvPr/>
        </p:nvSpPr>
        <p:spPr>
          <a:xfrm>
            <a:off x="7975629" y="3382082"/>
            <a:ext cx="3400439" cy="2456751"/>
          </a:xfrm>
          <a:prstGeom prst="roundRect">
            <a:avLst>
              <a:gd name="adj" fmla="val 6074"/>
            </a:avLst>
          </a:prstGeom>
          <a:solidFill>
            <a:srgbClr val="FBFCFE"/>
          </a:solidFill>
          <a:ln w="6350">
            <a:solidFill>
              <a:srgbClr val="DCE3EE"/>
            </a:solidFill>
            <a:prstDash val="solid"/>
          </a:ln>
        </p:spPr>
      </p:sp>
      <p:sp>
        <p:nvSpPr>
          <p:cNvPr id="11" name="Text 9"/>
          <p:cNvSpPr/>
          <p:nvPr/>
        </p:nvSpPr>
        <p:spPr>
          <a:xfrm>
            <a:off x="8205699" y="3612145"/>
            <a:ext cx="3028506" cy="29964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54E0"/>
                </a:solidFill>
                <a:latin typeface="Inter" pitchFamily="34" charset="0"/>
                <a:ea typeface="Inter" pitchFamily="34" charset="-122"/>
                <a:cs typeface="Inter" pitchFamily="34" charset="-120"/>
              </a:rPr>
              <a:t>Then: polish and share</a:t>
            </a:r>
            <a:endParaRPr lang="en-US" sz="1800" dirty="0"/>
          </a:p>
        </p:txBody>
      </p:sp>
      <p:sp>
        <p:nvSpPr>
          <p:cNvPr id="12" name="Text 10"/>
          <p:cNvSpPr/>
          <p:nvPr/>
        </p:nvSpPr>
        <p:spPr>
          <a:xfrm>
            <a:off x="8303743" y="4000649"/>
            <a:ext cx="2922842" cy="1180707"/>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Accessibility checks (WCAG)</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Deployed demo and README</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Case study for the portfolio</a:t>
            </a:r>
            <a:endParaRPr lang="en-US" sz="1300" dirty="0"/>
          </a:p>
          <a:p>
            <a:pPr algn="l" marL="155956" indent="-155956">
              <a:lnSpc>
                <a:spcPts val="1820"/>
              </a:lnSpc>
              <a:buSzPct val="100000"/>
              <a:buChar char="•"/>
            </a:pPr>
            <a:r>
              <a:rPr lang="en-US" sz="1300" dirty="0">
                <a:solidFill>
                  <a:srgbClr val="0F1F3D"/>
                </a:solidFill>
                <a:latin typeface="Inter" pitchFamily="34" charset="0"/>
                <a:ea typeface="Inter" pitchFamily="34" charset="-122"/>
                <a:cs typeface="Inter" pitchFamily="34" charset="-120"/>
              </a:rPr>
              <a:t>Informal feedback from a few people</a:t>
            </a:r>
            <a:endParaRPr lang="en-US" sz="1300" dirty="0"/>
          </a:p>
        </p:txBody>
      </p:sp>
      <p:sp>
        <p:nvSpPr>
          <p:cNvPr id="13" name="Text 11"/>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Scope stays small on purpose: a working, well-documented MVP matters more than covering every program.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63"/>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RISKS</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Risks and how they are handled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77" y="3706745"/>
          <a:ext cx="10557166" cy="2135260"/>
        </p:xfrm>
        <a:graphic>
          <a:graphicData uri="http://schemas.openxmlformats.org/drawingml/2006/table">
            <a:tbl>
              <a:tblPr/>
              <a:tblGrid>
                <a:gridCol w="4011723"/>
                <a:gridCol w="6545443"/>
              </a:tblGrid>
              <a:tr h="355877">
                <a:tc>
                  <a:txBody>
                    <a:bodyPr/>
                    <a:lstStyle/>
                    <a:p>
                      <a:pPr indent="0" marL="0">
                        <a:lnSpc>
                          <a:spcPts val="1820"/>
                        </a:lnSpc>
                        <a:buNone/>
                      </a:pPr>
                      <a:r>
                        <a:rPr lang="en-US" sz="1300" b="1" dirty="0">
                          <a:solidFill>
                            <a:srgbClr val="0F1F3D"/>
                          </a:solidFill>
                          <a:latin typeface="Inter" pitchFamily="34" charset="0"/>
                          <a:ea typeface="Inter" pitchFamily="34" charset="-122"/>
                          <a:cs typeface="Inter" pitchFamily="34" charset="-120"/>
                        </a:rPr>
                        <a:t>Risk</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B6B8B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B6B8BA"/>
                      </a:solidFill>
                      <a:prstDash val="solid"/>
                      <a:round/>
                      <a:headEnd type="none" w="med" len="med"/>
                      <a:tailEnd type="none" w="med" len="med"/>
                    </a:lnB>
                    <a:solidFill>
                      <a:srgbClr val="E4E6E9"/>
                    </a:solidFill>
                  </a:tcPr>
                </a:tc>
                <a:tc>
                  <a:txBody>
                    <a:bodyPr/>
                    <a:lstStyle/>
                    <a:p>
                      <a:pPr indent="0" marL="0">
                        <a:lnSpc>
                          <a:spcPts val="1820"/>
                        </a:lnSpc>
                        <a:buNone/>
                      </a:pPr>
                      <a:r>
                        <a:rPr lang="en-US" sz="1300" b="1" dirty="0">
                          <a:solidFill>
                            <a:srgbClr val="0F1F3D"/>
                          </a:solidFill>
                          <a:latin typeface="Inter" pitchFamily="34" charset="0"/>
                          <a:ea typeface="Inter" pitchFamily="34" charset="-122"/>
                          <a:cs typeface="Inter" pitchFamily="34" charset="-120"/>
                        </a:rPr>
                        <a:t>How it is handled</a:t>
                      </a:r>
                      <a:endParaRPr lang="en-US" sz="1300" dirty="0">
                        <a:latin typeface="Inter" charset="0"/>
                        <a:ea typeface="Inter" charset="0"/>
                        <a:cs typeface="Inter" charset="0"/>
                      </a:endParaRPr>
                    </a:p>
                  </a:txBody>
                  <a:tcPr marL="57785" marR="57785" marT="57785" marB="57785" anchor="t">
                    <a:lnL w="12700" cap="flat" cmpd="sng" algn="ctr">
                      <a:solidFill>
                        <a:srgbClr val="B6B8BA"/>
                      </a:solidFill>
                      <a:prstDash val="solid"/>
                      <a:round/>
                      <a:headEnd type="none" w="med" len="med"/>
                      <a:tailEnd type="none" w="med" len="med"/>
                    </a:lnL>
                    <a:lnR w="12700" cap="flat" cmpd="sng" algn="ctr">
                      <a:solidFill>
                        <a:srgbClr val="B6B8B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B6B8BA"/>
                      </a:solidFill>
                      <a:prstDash val="solid"/>
                      <a:round/>
                      <a:headEnd type="none" w="med" len="med"/>
                      <a:tailEnd type="none" w="med" len="med"/>
                    </a:lnB>
                    <a:solidFill>
                      <a:srgbClr val="E4E6E9"/>
                    </a:solidFill>
                  </a:tcPr>
                </a:tc>
              </a:tr>
              <a:tr h="355877">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Program data is wrong or old</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6B8BA"/>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The demo uses example data and every program links to its official page</a:t>
                      </a:r>
                      <a:endParaRPr lang="en-US" sz="1300" dirty="0">
                        <a:latin typeface="Inter" charset="0"/>
                        <a:ea typeface="Inter" charset="0"/>
                        <a:cs typeface="Inter"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6B8BA"/>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55877">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Looks like a government service</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BEC2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EC2CB"/>
                      </a:solidFill>
                      <a:prstDash val="solid"/>
                      <a:round/>
                      <a:headEnd type="none" w="med" len="med"/>
                      <a:tailEnd type="none" w="med" len="med"/>
                    </a:lnB>
                    <a:solidFill>
                      <a:srgbClr val="EEF3FF"/>
                    </a:solidFill>
                  </a:tcPr>
                </a:tc>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Independent notice on every page, no flag leaf, no “Canada” in the name</a:t>
                      </a:r>
                      <a:endParaRPr lang="en-US" sz="1300" dirty="0">
                        <a:latin typeface="Inter" charset="0"/>
                        <a:ea typeface="Inter" charset="0"/>
                        <a:cs typeface="Inter" charset="0"/>
                      </a:endParaRPr>
                    </a:p>
                  </a:txBody>
                  <a:tcPr marL="57785" marR="57785" marT="57785" marB="57785" anchor="t">
                    <a:lnL w="12700" cap="flat" cmpd="sng" algn="ctr">
                      <a:solidFill>
                        <a:srgbClr val="BEC2CB"/>
                      </a:solidFill>
                      <a:prstDash val="solid"/>
                      <a:round/>
                      <a:headEnd type="none" w="med" len="med"/>
                      <a:tailEnd type="none" w="med" len="med"/>
                    </a:lnL>
                    <a:lnR w="12700" cap="flat" cmpd="sng" algn="ctr">
                      <a:solidFill>
                        <a:srgbClr val="BEC2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EC2CB"/>
                      </a:solidFill>
                      <a:prstDash val="solid"/>
                      <a:round/>
                      <a:headEnd type="none" w="med" len="med"/>
                      <a:tailEnd type="none" w="med" len="med"/>
                    </a:lnB>
                    <a:solidFill>
                      <a:srgbClr val="EEF3FF"/>
                    </a:solidFill>
                  </a:tcPr>
                </a:tc>
              </a:tr>
              <a:tr h="355877">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Name already in use</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EC2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Check domain and trademark before making the project public</a:t>
                      </a:r>
                      <a:endParaRPr lang="en-US" sz="1300" dirty="0">
                        <a:latin typeface="Inter" charset="0"/>
                        <a:ea typeface="Inter" charset="0"/>
                        <a:cs typeface="Inter"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EC2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55877">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Handling personal data</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BEC2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EC2CB"/>
                      </a:solidFill>
                      <a:prstDash val="solid"/>
                      <a:round/>
                      <a:headEnd type="none" w="med" len="med"/>
                      <a:tailEnd type="none" w="med" len="med"/>
                    </a:lnB>
                    <a:solidFill>
                      <a:srgbClr val="EEF3FF"/>
                    </a:solidFill>
                  </a:tcPr>
                </a:tc>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The demo stores no real personal data; privacy is reviewed before any real use</a:t>
                      </a:r>
                      <a:endParaRPr lang="en-US" sz="1300" dirty="0">
                        <a:latin typeface="Inter" charset="0"/>
                        <a:ea typeface="Inter" charset="0"/>
                        <a:cs typeface="Inter" charset="0"/>
                      </a:endParaRPr>
                    </a:p>
                  </a:txBody>
                  <a:tcPr marL="57785" marR="57785" marT="57785" marB="57785" anchor="t">
                    <a:lnL w="12700" cap="flat" cmpd="sng" algn="ctr">
                      <a:solidFill>
                        <a:srgbClr val="BEC2CB"/>
                      </a:solidFill>
                      <a:prstDash val="solid"/>
                      <a:round/>
                      <a:headEnd type="none" w="med" len="med"/>
                      <a:tailEnd type="none" w="med" len="med"/>
                    </a:lnL>
                    <a:lnR w="12700" cap="flat" cmpd="sng" algn="ctr">
                      <a:solidFill>
                        <a:srgbClr val="BEC2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EC2CB"/>
                      </a:solidFill>
                      <a:prstDash val="solid"/>
                      <a:round/>
                      <a:headEnd type="none" w="med" len="med"/>
                      <a:tailEnd type="none" w="med" len="med"/>
                    </a:lnB>
                    <a:solidFill>
                      <a:srgbClr val="EEF3FF"/>
                    </a:solidFill>
                  </a:tcPr>
                </a:tc>
              </a:tr>
              <a:tr h="355877">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Scope grows too large</a:t>
                      </a:r>
                      <a:endParaRPr lang="en-US" sz="1300" dirty="0">
                        <a:latin typeface="Inter" charset="0"/>
                        <a:ea typeface="Inter" charset="0"/>
                        <a:cs typeface="Inter" charset="0"/>
                      </a:endParaRPr>
                    </a:p>
                  </a:txBody>
                  <a:tcPr marL="57785" marR="57785" marT="57785" marB="57785" anchor="t">
                    <a:lnL w="12700" cap="flat" cmpd="sng" algn="ctr">
                      <a:solidFill>
                        <a:srgbClr val="C4C6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EC2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1820"/>
                        </a:lnSpc>
                        <a:buNone/>
                      </a:pPr>
                      <a:r>
                        <a:rPr lang="en-US" sz="1300" dirty="0">
                          <a:solidFill>
                            <a:srgbClr val="0F1F3D"/>
                          </a:solidFill>
                          <a:latin typeface="Inter" pitchFamily="34" charset="0"/>
                          <a:ea typeface="Inter" pitchFamily="34" charset="-122"/>
                          <a:cs typeface="Inter" pitchFamily="34" charset="-120"/>
                        </a:rPr>
                        <a:t>Keep the MVP small: a few programs, done well</a:t>
                      </a:r>
                      <a:endParaRPr lang="en-US" sz="1300" dirty="0">
                        <a:latin typeface="Inter" charset="0"/>
                        <a:ea typeface="Inter" charset="0"/>
                        <a:cs typeface="Inter"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EC2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5" name="Text 2"/>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The project is a portfolio demo, not a service. These notes are not a legal or financial assessment.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812756" y="812763"/>
            <a:ext cx="7194549" cy="27430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020"/>
                </a:solidFill>
                <a:latin typeface="Inter" pitchFamily="34" charset="0"/>
                <a:ea typeface="Inter" pitchFamily="34" charset="-122"/>
                <a:cs typeface="Inter" pitchFamily="34" charset="-120"/>
              </a:rPr>
              <a:t>IN ONE SENTENCE</a:t>
            </a:r>
            <a:endParaRPr lang="en-US" sz="1400" dirty="0"/>
          </a:p>
        </p:txBody>
      </p:sp>
      <p:sp>
        <p:nvSpPr>
          <p:cNvPr id="3" name="Text 1"/>
          <p:cNvSpPr/>
          <p:nvPr>
            <p:ph type="title"/>
          </p:nvPr>
        </p:nvSpPr>
        <p:spPr>
          <a:xfrm>
            <a:off x="812756" y="1264828"/>
            <a:ext cx="7194549" cy="2439274"/>
          </a:xfrm>
          <a:prstGeom prst="rect">
            <a:avLst/>
          </a:prstGeom>
          <a:noFill/>
          <a:ln/>
        </p:spPr>
        <p:txBody>
          <a:bodyPr wrap="square" lIns="0" tIns="0" rIns="0" bIns="0" rtlCol="0" anchor="t">
            <a:normAutofit/>
          </a:bodyPr>
          <a:lstStyle/>
          <a:p>
            <a:pPr algn="l" indent="0" marL="0">
              <a:lnSpc>
                <a:spcPts val="4752"/>
              </a:lnSpc>
              <a:buNone/>
            </a:pPr>
            <a:r>
              <a:rPr lang="en-US" sz="4400" b="1" i="0" spc="-100" kern="0" dirty="0">
                <a:solidFill>
                  <a:srgbClr val="F6F8FC"/>
                </a:solidFill>
                <a:latin typeface="Inter" pitchFamily="34" charset="0"/>
                <a:ea typeface="Inter" pitchFamily="34" charset="-122"/>
                <a:cs typeface="Inter" pitchFamily="34" charset="-120"/>
              </a:rPr>
              <a:t>One place to find, understand and prepare for the support that fits your business.</a:t>
            </a:r>
            <a:endParaRPr lang="en-US" sz="4400" dirty="0"/>
          </a:p>
        </p:txBody>
      </p:sp>
      <p:sp>
        <p:nvSpPr>
          <p:cNvPr id="4" name="Text 2"/>
          <p:cNvSpPr/>
          <p:nvPr/>
        </p:nvSpPr>
        <p:spPr>
          <a:xfrm>
            <a:off x="812756" y="5143649"/>
            <a:ext cx="10883481" cy="41652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C"/>
                </a:solidFill>
                <a:latin typeface="Inter" pitchFamily="34" charset="0"/>
                <a:ea typeface="Inter" pitchFamily="34" charset="-122"/>
                <a:cs typeface="Inter" pitchFamily="34" charset="-120"/>
              </a:rPr>
              <a:t>Thank you. Questions and feedback are welcome.</a:t>
            </a:r>
            <a:endParaRPr lang="en-US" sz="2200" dirty="0"/>
          </a:p>
        </p:txBody>
      </p:sp>
      <p:sp>
        <p:nvSpPr>
          <p:cNvPr id="5" name="Text 3"/>
          <p:cNvSpPr/>
          <p:nvPr/>
        </p:nvSpPr>
        <p:spPr>
          <a:xfrm>
            <a:off x="812756" y="5610944"/>
            <a:ext cx="10883481" cy="2564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7D6F7"/>
                </a:solidFill>
                <a:latin typeface="Inter" pitchFamily="34" charset="0"/>
                <a:ea typeface="Inter" pitchFamily="34" charset="-122"/>
                <a:cs typeface="Inter" pitchFamily="34" charset="-120"/>
              </a:rPr>
              <a:t>Katherine Borges Sato · katherine.borges.sato@gmail.com</a:t>
            </a:r>
            <a:endParaRPr lang="en-US" sz="1300" dirty="0"/>
          </a:p>
        </p:txBody>
      </p:sp>
      <p:pic>
        <p:nvPicPr>
          <p:cNvPr id="6" name="Image 0" descr="Maple Seed Funding Guide logo">    </p:cNvPr>
          <p:cNvPicPr>
            <a:picLocks noChangeAspect="1"/>
          </p:cNvPicPr>
          <p:nvPr/>
        </p:nvPicPr>
        <p:blipFill>
          <a:blip r:embed="rId1"/>
          <a:srcRect l="0" r="0" t="0" b="0"/>
          <a:stretch/>
        </p:blipFill>
        <p:spPr>
          <a:xfrm>
            <a:off x="9093170" y="1371588"/>
            <a:ext cx="1524000" cy="152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812756" y="812763"/>
            <a:ext cx="10883481" cy="238766"/>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54E0"/>
                </a:solidFill>
                <a:latin typeface="Inter" pitchFamily="34" charset="0"/>
                <a:ea typeface="Inter" pitchFamily="34" charset="-122"/>
                <a:cs typeface="Inter" pitchFamily="34" charset="-120"/>
              </a:rPr>
              <a:t>SOURCES</a:t>
            </a:r>
            <a:endParaRPr lang="en-US" sz="1200" dirty="0"/>
          </a:p>
        </p:txBody>
      </p:sp>
      <p:sp>
        <p:nvSpPr>
          <p:cNvPr id="3" name="Text 1"/>
          <p:cNvSpPr/>
          <p:nvPr>
            <p:ph type="title"/>
          </p:nvPr>
        </p:nvSpPr>
        <p:spPr>
          <a:xfrm>
            <a:off x="812756" y="1153120"/>
            <a:ext cx="10883481" cy="47244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F3D"/>
                </a:solidFill>
                <a:latin typeface="Inter" pitchFamily="34" charset="0"/>
                <a:ea typeface="Inter" pitchFamily="34" charset="-122"/>
                <a:cs typeface="Inter" pitchFamily="34" charset="-120"/>
              </a:rPr>
              <a:t>Where the numbers come from</a:t>
            </a:r>
            <a:endParaRPr lang="en-US" sz="3200" dirty="0"/>
          </a:p>
        </p:txBody>
      </p:sp>
      <p:sp>
        <p:nvSpPr>
          <p:cNvPr id="4" name="Shape 2"/>
          <p:cNvSpPr/>
          <p:nvPr/>
        </p:nvSpPr>
        <p:spPr>
          <a:xfrm>
            <a:off x="815931" y="2816250"/>
            <a:ext cx="10560137" cy="693752"/>
          </a:xfrm>
          <a:prstGeom prst="roundRect">
            <a:avLst>
              <a:gd name="adj" fmla="val 14187"/>
            </a:avLst>
          </a:prstGeom>
          <a:solidFill>
            <a:srgbClr val="FBFCFE"/>
          </a:solidFill>
          <a:ln w="6350">
            <a:solidFill>
              <a:srgbClr val="DCE3EE"/>
            </a:solidFill>
            <a:prstDash val="solid"/>
          </a:ln>
        </p:spPr>
      </p:sp>
      <p:sp>
        <p:nvSpPr>
          <p:cNvPr id="5" name="Text 3"/>
          <p:cNvSpPr/>
          <p:nvPr/>
        </p:nvSpPr>
        <p:spPr>
          <a:xfrm>
            <a:off x="1020588" y="2919326"/>
            <a:ext cx="10455349" cy="274302"/>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0F1F3D"/>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Key Small Business Statistics 2025</a:t>
            </a:r>
            <a:endParaRPr lang="en-US" sz="1400" dirty="0"/>
          </a:p>
        </p:txBody>
      </p:sp>
      <p:sp>
        <p:nvSpPr>
          <p:cNvPr id="6" name="Text 4"/>
          <p:cNvSpPr/>
          <p:nvPr/>
        </p:nvSpPr>
        <p:spPr>
          <a:xfrm>
            <a:off x="1020588" y="3193566"/>
            <a:ext cx="10455349"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ISED. Business counts to December 2024, employment 2024, GDP shares 2022. The 47.2% is the small (33.2%) plus medium (14.0%) share.</a:t>
            </a:r>
            <a:endParaRPr lang="en-US" sz="1200" dirty="0"/>
          </a:p>
        </p:txBody>
      </p:sp>
      <p:sp>
        <p:nvSpPr>
          <p:cNvPr id="7" name="Shape 5"/>
          <p:cNvSpPr/>
          <p:nvPr/>
        </p:nvSpPr>
        <p:spPr>
          <a:xfrm>
            <a:off x="815931" y="3592525"/>
            <a:ext cx="10560137" cy="693752"/>
          </a:xfrm>
          <a:prstGeom prst="roundRect">
            <a:avLst>
              <a:gd name="adj" fmla="val 14187"/>
            </a:avLst>
          </a:prstGeom>
          <a:solidFill>
            <a:srgbClr val="FBFCFE"/>
          </a:solidFill>
          <a:ln w="6350">
            <a:solidFill>
              <a:srgbClr val="DCE3EE"/>
            </a:solidFill>
            <a:prstDash val="solid"/>
          </a:ln>
        </p:spPr>
      </p:sp>
      <p:sp>
        <p:nvSpPr>
          <p:cNvPr id="8" name="Text 6"/>
          <p:cNvSpPr/>
          <p:nvPr/>
        </p:nvSpPr>
        <p:spPr>
          <a:xfrm>
            <a:off x="1020588" y="3695601"/>
            <a:ext cx="10455349" cy="274302"/>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0F1F3D"/>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Credit Conditions Survey 2024</a:t>
            </a:r>
            <a:endParaRPr lang="en-US" sz="1400" dirty="0"/>
          </a:p>
        </p:txBody>
      </p:sp>
      <p:sp>
        <p:nvSpPr>
          <p:cNvPr id="9" name="Text 7"/>
          <p:cNvSpPr/>
          <p:nvPr/>
        </p:nvSpPr>
        <p:spPr>
          <a:xfrm>
            <a:off x="1020588" y="3969841"/>
            <a:ext cx="10455349"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ISED. 1,825 small businesses surveyed January to April 2025, covering financing sought in 2024.</a:t>
            </a:r>
            <a:endParaRPr lang="en-US" sz="1200" dirty="0"/>
          </a:p>
        </p:txBody>
      </p:sp>
      <p:sp>
        <p:nvSpPr>
          <p:cNvPr id="10" name="Shape 8"/>
          <p:cNvSpPr/>
          <p:nvPr/>
        </p:nvSpPr>
        <p:spPr>
          <a:xfrm>
            <a:off x="815931" y="4368800"/>
            <a:ext cx="10560137" cy="693752"/>
          </a:xfrm>
          <a:prstGeom prst="roundRect">
            <a:avLst>
              <a:gd name="adj" fmla="val 14187"/>
            </a:avLst>
          </a:prstGeom>
          <a:solidFill>
            <a:srgbClr val="FBFCFE"/>
          </a:solidFill>
          <a:ln w="6350">
            <a:solidFill>
              <a:srgbClr val="DCE3EE"/>
            </a:solidFill>
            <a:prstDash val="solid"/>
          </a:ln>
        </p:spPr>
      </p:sp>
      <p:sp>
        <p:nvSpPr>
          <p:cNvPr id="11" name="Text 9"/>
          <p:cNvSpPr/>
          <p:nvPr/>
        </p:nvSpPr>
        <p:spPr>
          <a:xfrm>
            <a:off x="1020588" y="4471876"/>
            <a:ext cx="10455349" cy="274302"/>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0F1F3D"/>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Borrower Awareness and Satisfaction Study 2023–2024</a:t>
            </a:r>
            <a:endParaRPr lang="en-US" sz="1400" dirty="0"/>
          </a:p>
        </p:txBody>
      </p:sp>
      <p:sp>
        <p:nvSpPr>
          <p:cNvPr id="12" name="Text 10"/>
          <p:cNvSpPr/>
          <p:nvPr/>
        </p:nvSpPr>
        <p:spPr>
          <a:xfrm>
            <a:off x="1020588" y="4746117"/>
            <a:ext cx="10455349"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ISED, Canada Small Business Financing Program. Fieldwork November 2023 to January 2024.</a:t>
            </a:r>
            <a:endParaRPr lang="en-US" sz="1200" dirty="0"/>
          </a:p>
        </p:txBody>
      </p:sp>
      <p:sp>
        <p:nvSpPr>
          <p:cNvPr id="13" name="Shape 11"/>
          <p:cNvSpPr/>
          <p:nvPr/>
        </p:nvSpPr>
        <p:spPr>
          <a:xfrm>
            <a:off x="815931" y="5145075"/>
            <a:ext cx="10560137" cy="693752"/>
          </a:xfrm>
          <a:prstGeom prst="roundRect">
            <a:avLst>
              <a:gd name="adj" fmla="val 14187"/>
            </a:avLst>
          </a:prstGeom>
          <a:solidFill>
            <a:srgbClr val="FBFCFE"/>
          </a:solidFill>
          <a:ln w="6350">
            <a:solidFill>
              <a:srgbClr val="DCE3EE"/>
            </a:solidFill>
            <a:prstDash val="solid"/>
          </a:ln>
        </p:spPr>
      </p:sp>
      <p:sp>
        <p:nvSpPr>
          <p:cNvPr id="14" name="Text 12"/>
          <p:cNvSpPr/>
          <p:nvPr/>
        </p:nvSpPr>
        <p:spPr>
          <a:xfrm>
            <a:off x="1020588" y="5248151"/>
            <a:ext cx="10455349" cy="274302"/>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0F1F3D"/>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Business Benefits Finder dataset</a:t>
            </a:r>
            <a:endParaRPr lang="en-US" sz="1400" dirty="0"/>
          </a:p>
        </p:txBody>
      </p:sp>
      <p:sp>
        <p:nvSpPr>
          <p:cNvPr id="15" name="Text 13"/>
          <p:cNvSpPr/>
          <p:nvPr/>
        </p:nvSpPr>
        <p:spPr>
          <a:xfrm>
            <a:off x="1020588" y="5522392"/>
            <a:ext cx="10455349"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Open Government portal. Published under the Open Government Licence – Canada.</a:t>
            </a:r>
            <a:endParaRPr lang="en-US" sz="1200" dirty="0"/>
          </a:p>
        </p:txBody>
      </p:sp>
      <p:sp>
        <p:nvSpPr>
          <p:cNvPr id="16" name="Text 14"/>
          <p:cNvSpPr/>
          <p:nvPr/>
        </p:nvSpPr>
        <p:spPr>
          <a:xfrm>
            <a:off x="812756" y="6238292"/>
            <a:ext cx="10883331" cy="23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85"/>
                </a:solidFill>
                <a:latin typeface="Inter" pitchFamily="34" charset="0"/>
                <a:ea typeface="Inter" pitchFamily="34" charset="-122"/>
                <a:cs typeface="Inter" pitchFamily="34" charset="-120"/>
              </a:rPr>
              <a:t>Figures were read from these pages in October 2026 and should be rechecked before the deck is reused.</a:t>
            </a:r>
            <a:endParaRPr lang="en-US" sz="1200" dirty="0"/>
          </a:p>
        </p:txBody>
      </p:sp>
    </p:spTree>
  </p:cSld>
  <p:clrMapOvr>
    <a:masterClrMapping/>
  </p:clrMapOvr>
</p:sld>
</file>

<file path=ppt/theme/theme1.xml><?xml version="1.0" encoding="utf-8"?>
<a:theme xmlns:a="http://schemas.openxmlformats.org/drawingml/2006/main" name="Maple Seed Funding Guide: project presentation">
  <a:themeElements>
    <a:clrScheme name="Maple Seed Funding Guide: project presentation">
      <a:dk1>
        <a:srgbClr val="0F1F3D"/>
      </a:dk1>
      <a:lt1>
        <a:srgbClr val="F6F8FC"/>
      </a:lt1>
      <a:dk2>
        <a:srgbClr val="49556D"/>
      </a:dk2>
      <a:lt2>
        <a:srgbClr val="DFE2E9"/>
      </a:lt2>
      <a:accent1>
        <a:srgbClr val="2554E0"/>
      </a:accent1>
      <a:accent2>
        <a:srgbClr val="5B6B85"/>
      </a:accent2>
      <a:accent3>
        <a:srgbClr val="FFB020"/>
      </a:accent3>
      <a:accent4>
        <a:srgbClr val="C7D6F7"/>
      </a:accent4>
      <a:accent5>
        <a:srgbClr val="0B7A54"/>
      </a:accent5>
      <a:accent6>
        <a:srgbClr val="8A5A00"/>
      </a:accent6>
      <a:hlink>
        <a:srgbClr val="0563C1"/>
      </a:hlink>
      <a:folHlink>
        <a:srgbClr val="954F72"/>
      </a:folHlink>
    </a:clrScheme>
    <a:fontScheme name="Maple Seed Funding Guide: project presentatio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Maple Seed Funding Guide: project presentation</dc:title>
  <dc:subject/>
  <dc:creator/>
  <cp:lastModifiedBy/>
  <cp:revision>1</cp:revision>
  <dcterms:created xsi:type="dcterms:W3CDTF">2026-10-17T02:19:23Z</dcterms:created>
  <dcterms:modified xsi:type="dcterms:W3CDTF">2026-10-17T02:19:23Z</dcterms:modified>
</cp:coreProperties>
</file>