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  <ns0:embeddedFont>
      <ns0:font typeface="JetBrains Mono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cea7daa6-843e-48d2-8687-a20d8020d30a.fntdata" /><ns0:Relationship Id="rIdFont18" Type="http://schemas.openxmlformats.org/officeDocument/2006/relationships/font" Target="fonts/477a9205-d6a0-4fbb-8e31-cfa7c71c2b09.fntdata" /><ns0:Relationship Id="rIdFont19" Type="http://schemas.openxmlformats.org/officeDocument/2006/relationships/font" Target="fonts/50082518-1d09-4693-96f3-ecf0b1ef38f7.fntdata" /><ns0:Relationship Id="rIdFont20" Type="http://schemas.openxmlformats.org/officeDocument/2006/relationships/font" Target="fonts/03d3a677-545d-4587-b350-56e248db20d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36577"/>
            <a:ext cx="8096250" cy="990600"/>
          </a:xfrm>
          <a:prstGeom prst="roundRect">
            <a:avLst>
              <a:gd name="adj" fmla="val 7692"/>
            </a:avLst>
          </a:prstGeom>
          <a:solidFill>
            <a:srgbClr val="1B2538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10225"/>
            <a:ext cx="109728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61022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609600"/>
            <a:ext cx="1733550" cy="304800"/>
          </a:xfrm>
          <a:prstGeom prst="roundRect">
            <a:avLst>
              <a:gd name="adj" fmla="val 12500"/>
            </a:avLst>
          </a:prstGeom>
          <a:solidFill>
            <a:srgbClr val="13265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0" y="609600"/>
            <a:ext cx="1714500" cy="114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574702"/>
            <a:ext cx="7715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E2E8F0"/>
                </a:solidFill>
                <a:latin typeface="Inter"/>
              </a:rPr>
              <a:t>Um ecossistema de dados centralizado e intuitivo para conectar PMEs canadenses a programas de auxílio financeiro e mitigação de custos.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666750"/>
            <a:ext cx="1562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JetBrains Mono"/>
              </a:rPr>
              <a:t>PROJECT PITCH &amp;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04900"/>
            <a:ext cx="6513314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FFFFFF"/>
                </a:solidFill>
                <a:latin typeface="Inter"/>
              </a:rPr>
              <a:t>CanBusiness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760190"/>
            <a:ext cx="6203156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Enterprise Funding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848350"/>
            <a:ext cx="4583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Katherine Borges Sato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86475"/>
            <a:ext cx="4583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Estudante de Engenharia de Software | Carleton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9962" y="6086475"/>
            <a:ext cx="4262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Inter"/>
              </a:rPr>
              <a:t>Projeto Acadêmico &amp; MVP de Engenharia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31925"/>
            <a:ext cx="5324475" cy="1102816"/>
          </a:xfrm>
          <a:prstGeom prst="roundRect">
            <a:avLst>
              <a:gd name="adj" fmla="val 6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25241"/>
            <a:ext cx="5324475" cy="1102816"/>
          </a:xfrm>
          <a:prstGeom prst="roundRect">
            <a:avLst>
              <a:gd name="adj" fmla="val 6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18558"/>
            <a:ext cx="5324475" cy="1102816"/>
          </a:xfrm>
          <a:prstGeom prst="roundRect">
            <a:avLst>
              <a:gd name="adj" fmla="val 6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25216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831925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831925"/>
            <a:ext cx="38100" cy="11028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4550" y="1831925"/>
            <a:ext cx="9525" cy="11028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218533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125241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125241"/>
            <a:ext cx="38100" cy="110281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24550" y="3125241"/>
            <a:ext cx="9525" cy="11028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5511849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418558"/>
            <a:ext cx="53244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418558"/>
            <a:ext cx="38100" cy="11028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4550" y="4418558"/>
            <a:ext cx="9525" cy="11028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866900"/>
            <a:ext cx="5343525" cy="3619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76425"/>
            <a:ext cx="5324475" cy="3600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36712"/>
            <a:ext cx="2190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330029"/>
            <a:ext cx="19050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623345"/>
            <a:ext cx="21907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-2133600" y="6162675"/>
            <a:ext cx="1371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Inter"/>
              </a:rPr>
              <a:t>Fonte: Innovation, Science and Economic Development Canada (ISED)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CENÁRIO ECONÔMICO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Contexto Macro &amp; Oportunidade PME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308175"/>
            <a:ext cx="49911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Mais de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97% das empresas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no Canadá são PMEs, empregando metade da força de trabalho privada.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601491"/>
            <a:ext cx="49911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Pressões tarifárias e logísticas com os EUA exigem transição rápida para IA e novas cadeias de suprimentos.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4894808"/>
            <a:ext cx="49911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Bilhões em subsídios como RTRI ($500M), garantias CSBFP e incentivos fiscais SR&amp;ED disponíveis.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1575" y="2031950"/>
            <a:ext cx="30503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Espinha Dorsal da Economia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325266"/>
            <a:ext cx="221277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Desafios Estruturais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1575" y="4618583"/>
            <a:ext cx="3500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Oferta Governamental Ampliada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29300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85962"/>
            <a:ext cx="3505200" cy="3048000"/>
          </a:xfrm>
          <a:prstGeom prst="roundRect">
            <a:avLst>
              <a:gd name="adj" fmla="val 375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1985962"/>
            <a:ext cx="3505200" cy="3048000"/>
          </a:xfrm>
          <a:prstGeom prst="roundRect">
            <a:avLst>
              <a:gd name="adj" fmla="val 3750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1985962"/>
            <a:ext cx="3505200" cy="304800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300287"/>
            <a:ext cx="28765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300287"/>
            <a:ext cx="287655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300287"/>
            <a:ext cx="287655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PONTOS DE FRICÇÃO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A Dor Real do Empreendedor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38125" y="5981700"/>
            <a:ext cx="12668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Inter"/>
              </a:rPr>
              <a:t>Resultado: Milhões de dólares em auxílios não utilizados por falta de acesso eficiente.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443287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91B1B"/>
                </a:solidFill>
                <a:latin typeface="Inter"/>
              </a:rPr>
              <a:t>Fragmentação Extrema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05237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7F1D1D"/>
                </a:solidFill>
                <a:latin typeface="Inter"/>
              </a:rPr>
              <a:t>Informações dispersas entre portais federais (Canada.ca), esferas provinciais e agências regionais como FedNor e FedDev.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3443287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A3412"/>
                </a:solidFill>
                <a:latin typeface="Inter"/>
              </a:rPr>
              <a:t>Sobrecarga Burocrática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805237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831843"/>
                </a:solidFill>
                <a:latin typeface="Inter"/>
              </a:rPr>
              <a:t>Editais extensos, linguajar jurídico complexo e regras de elegibilidade opacas dificultam a autoavaliação rápida.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671887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nter"/>
              </a:rPr>
              <a:t>Custo de Oportunidade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4033837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Altos gastos com consultorias externas e atrasos críticos na tomada de decisão de caixa devido a buscas manuais.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3675"/>
            <a:ext cx="5343525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2647950"/>
            <a:ext cx="5324475" cy="2219325"/>
          </a:xfrm>
          <a:prstGeom prst="roundRect">
            <a:avLst>
              <a:gd name="adj" fmla="val 515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67225" y="3052762"/>
            <a:ext cx="1171575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15550" y="2957512"/>
            <a:ext cx="1162050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629025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971925"/>
            <a:ext cx="1143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4314825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3533775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4067175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4410075"/>
            <a:ext cx="1524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ANÁLISE COMPARATIVA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Benchmarking do Ecossistema Atual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048000"/>
            <a:ext cx="298787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75569"/>
                </a:solidFill>
                <a:latin typeface="Inter"/>
              </a:rPr>
              <a:t>Business Benefits Finder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3425" y="3090862"/>
            <a:ext cx="1114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Ferramenta Oficial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1575" y="3590925"/>
            <a:ext cx="56459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Inter"/>
              </a:rPr>
              <a:t>Cobertura:</a:t>
            </a:r>
            <a:r>
              <a:rPr b="1" sz="1200" i="0" u="none">
                <a:solidFill>
                  <a:srgbClr val="16A34A"/>
                </a:solidFill>
                <a:latin typeface="Inter"/>
              </a:rPr>
              <a:t> Base ampla de dados governamentais.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3933825"/>
            <a:ext cx="56649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C2626"/>
                </a:solidFill>
                <a:latin typeface="Inter"/>
              </a:rPr>
              <a:t>Interface Densa:</a:t>
            </a:r>
            <a:r>
              <a:rPr b="1" sz="1200" i="0" u="none">
                <a:solidFill>
                  <a:srgbClr val="DC2626"/>
                </a:solidFill>
                <a:latin typeface="Inter"/>
              </a:rPr>
              <a:t> Excesso de seletores textuais sequenciais.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4276725"/>
            <a:ext cx="56649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C2626"/>
                </a:solidFill>
                <a:latin typeface="Inter"/>
              </a:rPr>
              <a:t>Experiência Rígida:</a:t>
            </a:r>
            <a:r>
              <a:rPr b="1" sz="1200" i="0" u="none">
                <a:solidFill>
                  <a:srgbClr val="DC2626"/>
                </a:solidFill>
                <a:latin typeface="Inter"/>
              </a:rPr>
              <a:t> Sem visibilidade imediata de métricas.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2952750"/>
            <a:ext cx="261282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Inter"/>
              </a:rPr>
              <a:t>CanBusiness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750" y="2995612"/>
            <a:ext cx="1104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O Gap de Mercado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5" y="3495675"/>
            <a:ext cx="45624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Navegação B2B Moderna:</a:t>
            </a:r>
            <a:r>
              <a:rPr b="1" sz="1200" i="0" u="none">
                <a:solidFill>
                  <a:srgbClr val="38BDF8"/>
                </a:solidFill>
                <a:latin typeface="Inter"/>
              </a:rPr>
              <a:t> Painel analítico de alta velocidade.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9425" y="4029075"/>
            <a:ext cx="53625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Filtragem Facetada:</a:t>
            </a:r>
            <a:r>
              <a:rPr b="1" sz="1200" i="0" u="none">
                <a:solidFill>
                  <a:srgbClr val="38BDF8"/>
                </a:solidFill>
                <a:latin typeface="Inter"/>
              </a:rPr>
              <a:t> Combinações instantâneas de perfil.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9425" y="4371975"/>
            <a:ext cx="53625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Foco em Decisão:</a:t>
            </a:r>
            <a:r>
              <a:rPr b="1" sz="1200" i="0" u="none">
                <a:solidFill>
                  <a:srgbClr val="38BDF8"/>
                </a:solidFill>
                <a:latin typeface="Inter"/>
              </a:rPr>
              <a:t> Transparência de valores, prazos e corte.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43112"/>
            <a:ext cx="5353050" cy="3429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043112"/>
            <a:ext cx="5353050" cy="342900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3450" y="4452937"/>
            <a:ext cx="4705350" cy="695325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53200" y="4452937"/>
            <a:ext cx="4705350" cy="695325"/>
          </a:xfrm>
          <a:prstGeom prst="roundRect">
            <a:avLst>
              <a:gd name="adj" fmla="val 10958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3450" y="2366962"/>
            <a:ext cx="733425" cy="276225"/>
          </a:xfrm>
          <a:prstGeom prst="roundRect">
            <a:avLst>
              <a:gd name="adj" fmla="val 20689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3200" y="2366962"/>
            <a:ext cx="714375" cy="276225"/>
          </a:xfrm>
          <a:prstGeom prst="roundRect">
            <a:avLst>
              <a:gd name="adj" fmla="val 20689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PROPOSTA DE 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Arquitetura "Dual-Core" 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795587"/>
            <a:ext cx="4800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Filtros combinatórios instantâneos por setor, faturamento, funcionários, localização e tipo de apoio financeiro.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4614862"/>
            <a:ext cx="547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Inter"/>
              </a:rPr>
              <a:t>Formato Datasheet Executivo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4833937"/>
            <a:ext cx="5476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Visualização em tabela/cards com valores, prazos e critérios claros.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795587"/>
            <a:ext cx="4800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E40AF"/>
                </a:solidFill>
                <a:latin typeface="Inter"/>
              </a:rPr>
              <a:t>Assistente declarativo em página única para avaliação direta de elegibilidade e ordenação dos programas mais relevantes.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4614862"/>
            <a:ext cx="547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3A8A"/>
                </a:solidFill>
                <a:latin typeface="Inter"/>
              </a:rPr>
              <a:t>Tom Executivo &amp; Rigoroso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4833937"/>
            <a:ext cx="5476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B82F6"/>
                </a:solidFill>
                <a:latin typeface="Inter"/>
              </a:rPr>
              <a:t>Formulário profissional alinhado ao padrão corporativo e financeiro.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2424112"/>
            <a:ext cx="6000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CORE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1175" y="2390775"/>
            <a:ext cx="357544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Busca Facetada Centralizada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2424112"/>
            <a:ext cx="5810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CORE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1875" y="2390775"/>
            <a:ext cx="343792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3A8A"/>
                </a:solidFill>
                <a:latin typeface="Inter"/>
              </a:rPr>
              <a:t>Triagem Corporativa Guiada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33612"/>
            <a:ext cx="35052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233612"/>
            <a:ext cx="35052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233612"/>
            <a:ext cx="35052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509837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509837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509837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DESIGN SYSTEM &amp; AUTORIDADE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Benchmarking Visual &amp; Front-End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474243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Referência em clareza, alto contraste e acessibilidade, eliminando ruídos visuais na comunicação governamental.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852987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Clareza e Acessibilidade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474243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Estética clean, moderna e corporativa para plataformas B2B de gestão financeira de alto impacto.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852987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366F1"/>
                </a:solidFill>
                <a:latin typeface="Inter"/>
              </a:rPr>
              <a:t>Usabilidade SaaS 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474243"/>
            <a:ext cx="3048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Padrão em densidade de informação organizada, navegação por tabelas eficientes e accordions laterais.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852987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Densidade de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8725" y="2509837"/>
            <a:ext cx="99012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Gov.uk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1100" y="2509837"/>
            <a:ext cx="16502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Stripe / Ramp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6325" y="2509837"/>
            <a:ext cx="277534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Bloomberg / PitchBook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38362"/>
            <a:ext cx="2600325" cy="3238500"/>
          </a:xfrm>
          <a:prstGeom prst="roundRect">
            <a:avLst>
              <a:gd name="adj" fmla="val 29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138362"/>
            <a:ext cx="2600325" cy="3238500"/>
          </a:xfrm>
          <a:prstGeom prst="roundRect">
            <a:avLst>
              <a:gd name="adj" fmla="val 29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138362"/>
            <a:ext cx="2600325" cy="3238500"/>
          </a:xfrm>
          <a:prstGeom prst="roundRect">
            <a:avLst>
              <a:gd name="adj" fmla="val 29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138362"/>
            <a:ext cx="2600325" cy="3238500"/>
          </a:xfrm>
          <a:prstGeom prst="roundRect">
            <a:avLst>
              <a:gd name="adj" fmla="val 29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4910137"/>
            <a:ext cx="2124075" cy="2286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38550" y="4910137"/>
            <a:ext cx="2124075" cy="228600"/>
          </a:xfrm>
          <a:prstGeom prst="roundRect">
            <a:avLst>
              <a:gd name="adj" fmla="val 1666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29375" y="4910137"/>
            <a:ext cx="2124075" cy="22860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20200" y="4910137"/>
            <a:ext cx="2124075" cy="228600"/>
          </a:xfrm>
          <a:prstGeom prst="roundRect">
            <a:avLst>
              <a:gd name="adj" fmla="val 1666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76487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376487"/>
            <a:ext cx="2667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2376487"/>
            <a:ext cx="2667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2376487"/>
            <a:ext cx="3810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ENGENHARIA 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Arquitetura Tecnológica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948237"/>
            <a:ext cx="2066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369A1"/>
                </a:solidFill>
                <a:latin typeface="JetBrains Mono"/>
              </a:rPr>
              <a:t>UI &amp; Client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4750" y="4948237"/>
            <a:ext cx="2066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5803D"/>
                </a:solidFill>
                <a:latin typeface="JetBrains Mono"/>
              </a:rPr>
              <a:t>Core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4948237"/>
            <a:ext cx="2066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E40AF"/>
                </a:solidFill>
                <a:latin typeface="JetBrains Mono"/>
              </a:rPr>
              <a:t>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4948237"/>
            <a:ext cx="2066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B21A8"/>
                </a:solidFill>
                <a:latin typeface="JetBrains Mono"/>
              </a:rPr>
              <a:t>Data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279558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071812"/>
            <a:ext cx="2219325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React / Next.js + Tailwind: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Foco em alta performance, componentes reutilizáveis e interface B2B.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8550" y="279558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Backend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8550" y="3071812"/>
            <a:ext cx="2219325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FastAPI / Node.js: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Processamento veloz dos algoritmos de busca e motor de elegibilidade.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279558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3071812"/>
            <a:ext cx="22193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PostgreSQL: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Modelagem relacional para requisitos, jurisdições e regras de negócios.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0200" y="279558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Ingestão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0200" y="3071812"/>
            <a:ext cx="22193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Automated Scrapers: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Pipeline planejado para sincronização de portais oficiais.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28862"/>
            <a:ext cx="2628900" cy="285750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2328862"/>
            <a:ext cx="2628900" cy="285750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2328862"/>
            <a:ext cx="2628900" cy="285750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2328862"/>
            <a:ext cx="2628900" cy="285750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176837"/>
            <a:ext cx="26289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328862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328862"/>
            <a:ext cx="9525" cy="2857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28975" y="2328862"/>
            <a:ext cx="9525" cy="2857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0900" y="5176837"/>
            <a:ext cx="26289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0900" y="2328862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0900" y="2328862"/>
            <a:ext cx="9525" cy="2857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0275" y="2328862"/>
            <a:ext cx="9525" cy="2857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5176837"/>
            <a:ext cx="26289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328862"/>
            <a:ext cx="26289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328862"/>
            <a:ext cx="9525" cy="2857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91575" y="2328862"/>
            <a:ext cx="9525" cy="2857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53500" y="5176837"/>
            <a:ext cx="26289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53500" y="2328862"/>
            <a:ext cx="26289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3500" y="2328862"/>
            <a:ext cx="9525" cy="2857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72875" y="2328862"/>
            <a:ext cx="9525" cy="2857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EVOLUÇÃO DO PROJETO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Roadmap de Implementação MVP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2557462"/>
            <a:ext cx="2324100" cy="1053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FASE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0925" y="2557462"/>
            <a:ext cx="2324100" cy="1053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FASE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225" y="2557462"/>
            <a:ext cx="2324100" cy="1053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Inter"/>
              </a:rPr>
              <a:t>FASE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525" y="2557462"/>
            <a:ext cx="2324100" cy="1053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366F1"/>
                </a:solidFill>
                <a:latin typeface="Inter"/>
              </a:rPr>
              <a:t>FASE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2824162"/>
            <a:ext cx="292536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Fundação &amp; Modelagem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3090862"/>
            <a:ext cx="232410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Esquema PostgreSQL e mapeamento de programas chave (RTRI, CSBFP, SR&amp;ED, IRAP).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0925" y="2824162"/>
            <a:ext cx="292536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Frontend &amp; Core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0925" y="3090862"/>
            <a:ext cx="232410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Interface de busca facetada combinatória com filtros dinâmicos e ordenação.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2225" y="2824162"/>
            <a:ext cx="292536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Matching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2225" y="3090862"/>
            <a:ext cx="232410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Algoritmo de triagem e cálculo de elegibilidade para o assistente corporativo.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525" y="2824162"/>
            <a:ext cx="292536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Deploy &amp; Docs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3525" y="3090862"/>
            <a:ext cx="232410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Repositório GitHub profissional, testes unitários, README técnico e hospedagem.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57875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38350"/>
            <a:ext cx="3479750" cy="3048000"/>
          </a:xfrm>
          <a:prstGeom prst="roundRect">
            <a:avLst>
              <a:gd name="adj" fmla="val 3750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2038350"/>
            <a:ext cx="3479750" cy="3048000"/>
          </a:xfrm>
          <a:prstGeom prst="roundRect">
            <a:avLst>
              <a:gd name="adj" fmla="val 3750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02500" y="2038350"/>
            <a:ext cx="3479750" cy="3048000"/>
          </a:xfrm>
          <a:prstGeom prst="roundRect">
            <a:avLst>
              <a:gd name="adj" fmla="val 3750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8578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352675"/>
            <a:ext cx="28511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2352675"/>
            <a:ext cx="28511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825" y="2352675"/>
            <a:ext cx="28511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VISÃO FINAL &amp; IMPACTO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477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Inter"/>
              </a:rPr>
              <a:t>Conclusão &amp; Valor para o Co-op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57900"/>
            <a:ext cx="4095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Katherine Borges Sato — Carleton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7850" y="6072187"/>
            <a:ext cx="2643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Obrigada! Perguntas e Feedback.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824287"/>
            <a:ext cx="374206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Aplicação Prática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129087"/>
            <a:ext cx="2946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Resolução de um problema B2B real através de arquitetura de software limpa e robusta.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0375" y="3824287"/>
            <a:ext cx="374206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Domínio do Contexto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0375" y="4129087"/>
            <a:ext cx="2946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Compreensão profunda das necessidades do mercado corporativo e políticas públicas do Canadá.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6825" y="3824287"/>
            <a:ext cx="374206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Diferencial Competitivo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6825" y="4129087"/>
            <a:ext cx="29463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Combinação de rigor analítico/estrutural com capacidade de execução end-to-end.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8370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https://images.architizer.com/media/mediadata/uploads/16523779584601.jpg?width=1140&amp;quality=60&amp;height=569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3487"/>
            <a:ext cx="2024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architizer.com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4987"/>
            <a:ext cx="5726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https://investalberta.ca/wp-content/uploads/2023/09/Man-in-IT-scaled.webp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5012"/>
            <a:ext cx="2166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investalberta.ca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